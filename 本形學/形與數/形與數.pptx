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67" r:id="rId2"/>
    <p:sldId id="269" r:id="rId3"/>
    <p:sldId id="256" r:id="rId4"/>
    <p:sldId id="257" r:id="rId5"/>
    <p:sldId id="262" r:id="rId6"/>
    <p:sldId id="258" r:id="rId7"/>
    <p:sldId id="259" r:id="rId8"/>
    <p:sldId id="260" r:id="rId9"/>
    <p:sldId id="261" r:id="rId10"/>
    <p:sldId id="263" r:id="rId11"/>
    <p:sldId id="264" r:id="rId12"/>
    <p:sldId id="274" r:id="rId13"/>
    <p:sldId id="286" r:id="rId14"/>
    <p:sldId id="266" r:id="rId15"/>
    <p:sldId id="284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2761"/>
    <a:srgbClr val="D2A953"/>
    <a:srgbClr val="F7F6F3"/>
    <a:srgbClr val="F1F1F1"/>
    <a:srgbClr val="8991B3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#1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>
      <a:schemeClr val="accent5">
        <a:tint val="75000"/>
      </a:schemeClr>
      <a:schemeClr val="accent6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#4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>
      <a:schemeClr val="accent5">
        <a:tint val="75000"/>
      </a:schemeClr>
      <a:schemeClr val="accent6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BA46460-67FD-4937-9A31-4AE95A47D31B}" type="doc">
      <dgm:prSet loTypeId="urn:microsoft.com/office/officeart/2005/8/layout/gear1" loCatId="relationship" qsTypeId="urn:microsoft.com/office/officeart/2005/8/quickstyle/simple1#1" qsCatId="simple" csTypeId="urn:microsoft.com/office/officeart/2005/8/colors/colorful5#1" csCatId="colorful" phldr="1"/>
      <dgm:spPr/>
      <dgm:t>
        <a:bodyPr/>
        <a:lstStyle/>
        <a:p>
          <a:endParaRPr lang="zh-TW" altLang="en-US"/>
        </a:p>
      </dgm:t>
    </dgm:pt>
    <dgm:pt modelId="{F0A7BC72-B1C2-4CD9-881F-28F473D0E8E8}">
      <dgm:prSet phldrT="[文字]"/>
      <dgm:spPr/>
      <dgm:t>
        <a:bodyPr/>
        <a:lstStyle/>
        <a:p>
          <a:r>
            <a:rPr lang="zh-TW" altLang="en-US" b="0" dirty="0">
              <a:latin typeface="HGPMinchoE" panose="02020800000000000000" pitchFamily="18" charset="-128"/>
              <a:ea typeface="HGPMinchoE" panose="02020800000000000000" pitchFamily="18" charset="-128"/>
            </a:rPr>
            <a:t>理解思考</a:t>
          </a:r>
        </a:p>
      </dgm:t>
    </dgm:pt>
    <dgm:pt modelId="{6819E22B-7B1A-435D-8271-ABB0B9F7F4B1}" type="parTrans" cxnId="{1D8EDC4A-B107-4522-A81E-C6DCBD5AD3C3}">
      <dgm:prSet/>
      <dgm:spPr/>
      <dgm:t>
        <a:bodyPr/>
        <a:lstStyle/>
        <a:p>
          <a:endParaRPr lang="zh-TW" altLang="en-US" b="0">
            <a:latin typeface="HGPMinchoE" panose="02020800000000000000" pitchFamily="18" charset="-128"/>
            <a:ea typeface="HGPMinchoE" panose="02020800000000000000" pitchFamily="18" charset="-128"/>
          </a:endParaRPr>
        </a:p>
      </dgm:t>
    </dgm:pt>
    <dgm:pt modelId="{A3E02F7D-C43B-45B0-80FD-24AAC14BAB65}" type="sibTrans" cxnId="{1D8EDC4A-B107-4522-A81E-C6DCBD5AD3C3}">
      <dgm:prSet/>
      <dgm:spPr/>
      <dgm:t>
        <a:bodyPr/>
        <a:lstStyle/>
        <a:p>
          <a:endParaRPr lang="zh-TW" altLang="en-US" b="0">
            <a:latin typeface="HGPMinchoE" panose="02020800000000000000" pitchFamily="18" charset="-128"/>
            <a:ea typeface="HGPMinchoE" panose="02020800000000000000" pitchFamily="18" charset="-128"/>
          </a:endParaRPr>
        </a:p>
      </dgm:t>
    </dgm:pt>
    <dgm:pt modelId="{A9E6D72D-784A-4F22-925B-75661EDB3782}">
      <dgm:prSet phldrT="[文字]"/>
      <dgm:spPr/>
      <dgm:t>
        <a:bodyPr/>
        <a:lstStyle/>
        <a:p>
          <a:r>
            <a:rPr lang="zh-TW" altLang="en-US" b="0">
              <a:latin typeface="HGPMinchoE" panose="02020800000000000000" pitchFamily="18" charset="-128"/>
              <a:ea typeface="HGPMinchoE" panose="02020800000000000000" pitchFamily="18" charset="-128"/>
            </a:rPr>
            <a:t>本形學</a:t>
          </a:r>
          <a:endParaRPr lang="zh-TW" altLang="en-US" b="0" dirty="0">
            <a:latin typeface="HGPMinchoE" panose="02020800000000000000" pitchFamily="18" charset="-128"/>
            <a:ea typeface="HGPMinchoE" panose="02020800000000000000" pitchFamily="18" charset="-128"/>
          </a:endParaRPr>
        </a:p>
      </dgm:t>
    </dgm:pt>
    <dgm:pt modelId="{02E39F6A-49A5-4697-85F6-11CE3F99F0DA}" type="parTrans" cxnId="{C0310C6D-3E3D-41A9-89F3-09E17C6449A8}">
      <dgm:prSet/>
      <dgm:spPr/>
      <dgm:t>
        <a:bodyPr/>
        <a:lstStyle/>
        <a:p>
          <a:endParaRPr lang="zh-TW" altLang="en-US" b="0">
            <a:latin typeface="HGPMinchoE" panose="02020800000000000000" pitchFamily="18" charset="-128"/>
            <a:ea typeface="HGPMinchoE" panose="02020800000000000000" pitchFamily="18" charset="-128"/>
          </a:endParaRPr>
        </a:p>
      </dgm:t>
    </dgm:pt>
    <dgm:pt modelId="{61C3641A-7082-40CA-A7AA-7150AF703850}" type="sibTrans" cxnId="{C0310C6D-3E3D-41A9-89F3-09E17C6449A8}">
      <dgm:prSet/>
      <dgm:spPr/>
      <dgm:t>
        <a:bodyPr/>
        <a:lstStyle/>
        <a:p>
          <a:endParaRPr lang="zh-TW" altLang="en-US" b="0">
            <a:latin typeface="HGPMinchoE" panose="02020800000000000000" pitchFamily="18" charset="-128"/>
            <a:ea typeface="HGPMinchoE" panose="02020800000000000000" pitchFamily="18" charset="-128"/>
          </a:endParaRPr>
        </a:p>
      </dgm:t>
    </dgm:pt>
    <dgm:pt modelId="{5CB4B79E-8BD4-4F03-83B8-7DCBA49D76EF}">
      <dgm:prSet phldrT="[文字]"/>
      <dgm:spPr/>
      <dgm:t>
        <a:bodyPr/>
        <a:lstStyle/>
        <a:p>
          <a:r>
            <a:rPr lang="zh-TW" altLang="en-US" b="0">
              <a:latin typeface="HGPMinchoE" panose="02020800000000000000" pitchFamily="18" charset="-128"/>
              <a:ea typeface="HGPMinchoE" panose="02020800000000000000" pitchFamily="18" charset="-128"/>
            </a:rPr>
            <a:t>數學</a:t>
          </a:r>
          <a:endParaRPr lang="zh-TW" altLang="en-US" b="0" dirty="0">
            <a:latin typeface="HGPMinchoE" panose="02020800000000000000" pitchFamily="18" charset="-128"/>
            <a:ea typeface="HGPMinchoE" panose="02020800000000000000" pitchFamily="18" charset="-128"/>
          </a:endParaRPr>
        </a:p>
      </dgm:t>
    </dgm:pt>
    <dgm:pt modelId="{6176E0A8-6D2F-4C8E-AA7B-8F0CE2C7B93C}" type="parTrans" cxnId="{C5A95534-FD3E-427F-8CE5-32493C2CE99B}">
      <dgm:prSet/>
      <dgm:spPr/>
      <dgm:t>
        <a:bodyPr/>
        <a:lstStyle/>
        <a:p>
          <a:endParaRPr lang="zh-TW" altLang="en-US"/>
        </a:p>
      </dgm:t>
    </dgm:pt>
    <dgm:pt modelId="{44ED059B-0F5B-4DB5-9165-EFC5C629B869}" type="sibTrans" cxnId="{C5A95534-FD3E-427F-8CE5-32493C2CE99B}">
      <dgm:prSet/>
      <dgm:spPr/>
      <dgm:t>
        <a:bodyPr/>
        <a:lstStyle/>
        <a:p>
          <a:endParaRPr lang="zh-TW" altLang="en-US"/>
        </a:p>
      </dgm:t>
    </dgm:pt>
    <dgm:pt modelId="{902F722B-9946-45E5-A398-CE32AD45FF30}" type="pres">
      <dgm:prSet presAssocID="{1BA46460-67FD-4937-9A31-4AE95A47D31B}" presName="composite" presStyleCnt="0">
        <dgm:presLayoutVars>
          <dgm:chMax val="3"/>
          <dgm:animLvl val="lvl"/>
          <dgm:resizeHandles val="exact"/>
        </dgm:presLayoutVars>
      </dgm:prSet>
      <dgm:spPr/>
    </dgm:pt>
    <dgm:pt modelId="{A348BF0B-0B28-4632-B91C-2DEE5457588D}" type="pres">
      <dgm:prSet presAssocID="{F0A7BC72-B1C2-4CD9-881F-28F473D0E8E8}" presName="gear1" presStyleLbl="node1" presStyleIdx="0" presStyleCnt="3">
        <dgm:presLayoutVars>
          <dgm:chMax val="1"/>
          <dgm:bulletEnabled val="1"/>
        </dgm:presLayoutVars>
      </dgm:prSet>
      <dgm:spPr/>
    </dgm:pt>
    <dgm:pt modelId="{303AA605-6570-42EC-A6C1-02443E530D2C}" type="pres">
      <dgm:prSet presAssocID="{F0A7BC72-B1C2-4CD9-881F-28F473D0E8E8}" presName="gear1srcNode" presStyleLbl="node1" presStyleIdx="0" presStyleCnt="3"/>
      <dgm:spPr/>
    </dgm:pt>
    <dgm:pt modelId="{D18DAF55-BD3F-4187-9FE8-40A0DA52BBEA}" type="pres">
      <dgm:prSet presAssocID="{F0A7BC72-B1C2-4CD9-881F-28F473D0E8E8}" presName="gear1dstNode" presStyleLbl="node1" presStyleIdx="0" presStyleCnt="3"/>
      <dgm:spPr/>
    </dgm:pt>
    <dgm:pt modelId="{9B000834-730D-442E-8AA8-294820A0652D}" type="pres">
      <dgm:prSet presAssocID="{A9E6D72D-784A-4F22-925B-75661EDB3782}" presName="gear2" presStyleLbl="node1" presStyleIdx="1" presStyleCnt="3">
        <dgm:presLayoutVars>
          <dgm:chMax val="1"/>
          <dgm:bulletEnabled val="1"/>
        </dgm:presLayoutVars>
      </dgm:prSet>
      <dgm:spPr/>
    </dgm:pt>
    <dgm:pt modelId="{CD88729B-DFB0-47AB-B29D-9E50148B4683}" type="pres">
      <dgm:prSet presAssocID="{A9E6D72D-784A-4F22-925B-75661EDB3782}" presName="gear2srcNode" presStyleLbl="node1" presStyleIdx="1" presStyleCnt="3"/>
      <dgm:spPr/>
    </dgm:pt>
    <dgm:pt modelId="{91730FD7-DF0C-4DF6-8D55-785036143692}" type="pres">
      <dgm:prSet presAssocID="{A9E6D72D-784A-4F22-925B-75661EDB3782}" presName="gear2dstNode" presStyleLbl="node1" presStyleIdx="1" presStyleCnt="3"/>
      <dgm:spPr/>
    </dgm:pt>
    <dgm:pt modelId="{F946B1DE-0F42-4B7A-AD93-D0ABF1FA7BD4}" type="pres">
      <dgm:prSet presAssocID="{5CB4B79E-8BD4-4F03-83B8-7DCBA49D76EF}" presName="gear3" presStyleLbl="node1" presStyleIdx="2" presStyleCnt="3"/>
      <dgm:spPr/>
    </dgm:pt>
    <dgm:pt modelId="{5BBE094C-886A-40C4-99DB-6ACB1ACD8FD7}" type="pres">
      <dgm:prSet presAssocID="{5CB4B79E-8BD4-4F03-83B8-7DCBA49D76EF}" presName="gear3tx" presStyleLbl="node1" presStyleIdx="2" presStyleCnt="3">
        <dgm:presLayoutVars>
          <dgm:chMax val="1"/>
          <dgm:bulletEnabled val="1"/>
        </dgm:presLayoutVars>
      </dgm:prSet>
      <dgm:spPr/>
    </dgm:pt>
    <dgm:pt modelId="{6A8044FC-82BE-435E-B0AA-FA34B7C734BE}" type="pres">
      <dgm:prSet presAssocID="{5CB4B79E-8BD4-4F03-83B8-7DCBA49D76EF}" presName="gear3srcNode" presStyleLbl="node1" presStyleIdx="2" presStyleCnt="3"/>
      <dgm:spPr/>
    </dgm:pt>
    <dgm:pt modelId="{D8351DD4-621A-4DBB-A448-69FF60A8DCF4}" type="pres">
      <dgm:prSet presAssocID="{5CB4B79E-8BD4-4F03-83B8-7DCBA49D76EF}" presName="gear3dstNode" presStyleLbl="node1" presStyleIdx="2" presStyleCnt="3"/>
      <dgm:spPr/>
    </dgm:pt>
    <dgm:pt modelId="{3598B651-8A7B-4826-9B94-5B0F24C6D477}" type="pres">
      <dgm:prSet presAssocID="{A3E02F7D-C43B-45B0-80FD-24AAC14BAB65}" presName="connector1" presStyleLbl="sibTrans2D1" presStyleIdx="0" presStyleCnt="3"/>
      <dgm:spPr/>
    </dgm:pt>
    <dgm:pt modelId="{08DE2B86-90BD-4C25-A537-BC4F1F04A91A}" type="pres">
      <dgm:prSet presAssocID="{61C3641A-7082-40CA-A7AA-7150AF703850}" presName="connector2" presStyleLbl="sibTrans2D1" presStyleIdx="1" presStyleCnt="3"/>
      <dgm:spPr/>
    </dgm:pt>
    <dgm:pt modelId="{E8DA7508-FEA2-466B-9560-87DF64789BFC}" type="pres">
      <dgm:prSet presAssocID="{44ED059B-0F5B-4DB5-9165-EFC5C629B869}" presName="connector3" presStyleLbl="sibTrans2D1" presStyleIdx="2" presStyleCnt="3"/>
      <dgm:spPr/>
    </dgm:pt>
  </dgm:ptLst>
  <dgm:cxnLst>
    <dgm:cxn modelId="{70CBB61D-6941-4E51-9A6F-1E04544EF0AC}" type="presOf" srcId="{A9E6D72D-784A-4F22-925B-75661EDB3782}" destId="{9B000834-730D-442E-8AA8-294820A0652D}" srcOrd="0" destOrd="0" presId="urn:microsoft.com/office/officeart/2005/8/layout/gear1"/>
    <dgm:cxn modelId="{91E39A22-AF7A-4A52-B3B5-8C8F3FBC3D72}" type="presOf" srcId="{5CB4B79E-8BD4-4F03-83B8-7DCBA49D76EF}" destId="{6A8044FC-82BE-435E-B0AA-FA34B7C734BE}" srcOrd="2" destOrd="0" presId="urn:microsoft.com/office/officeart/2005/8/layout/gear1"/>
    <dgm:cxn modelId="{271B3C2A-ACCD-4736-8537-8222B69C6588}" type="presOf" srcId="{A9E6D72D-784A-4F22-925B-75661EDB3782}" destId="{91730FD7-DF0C-4DF6-8D55-785036143692}" srcOrd="2" destOrd="0" presId="urn:microsoft.com/office/officeart/2005/8/layout/gear1"/>
    <dgm:cxn modelId="{C5A95534-FD3E-427F-8CE5-32493C2CE99B}" srcId="{1BA46460-67FD-4937-9A31-4AE95A47D31B}" destId="{5CB4B79E-8BD4-4F03-83B8-7DCBA49D76EF}" srcOrd="2" destOrd="0" parTransId="{6176E0A8-6D2F-4C8E-AA7B-8F0CE2C7B93C}" sibTransId="{44ED059B-0F5B-4DB5-9165-EFC5C629B869}"/>
    <dgm:cxn modelId="{D06CAE39-36B5-4ADA-BF89-7D5E3898785C}" type="presOf" srcId="{44ED059B-0F5B-4DB5-9165-EFC5C629B869}" destId="{E8DA7508-FEA2-466B-9560-87DF64789BFC}" srcOrd="0" destOrd="0" presId="urn:microsoft.com/office/officeart/2005/8/layout/gear1"/>
    <dgm:cxn modelId="{5163D261-6E56-4BB9-B23C-C1A3D4E95AAB}" type="presOf" srcId="{1BA46460-67FD-4937-9A31-4AE95A47D31B}" destId="{902F722B-9946-45E5-A398-CE32AD45FF30}" srcOrd="0" destOrd="0" presId="urn:microsoft.com/office/officeart/2005/8/layout/gear1"/>
    <dgm:cxn modelId="{1D8EDC4A-B107-4522-A81E-C6DCBD5AD3C3}" srcId="{1BA46460-67FD-4937-9A31-4AE95A47D31B}" destId="{F0A7BC72-B1C2-4CD9-881F-28F473D0E8E8}" srcOrd="0" destOrd="0" parTransId="{6819E22B-7B1A-435D-8271-ABB0B9F7F4B1}" sibTransId="{A3E02F7D-C43B-45B0-80FD-24AAC14BAB65}"/>
    <dgm:cxn modelId="{C0310C6D-3E3D-41A9-89F3-09E17C6449A8}" srcId="{1BA46460-67FD-4937-9A31-4AE95A47D31B}" destId="{A9E6D72D-784A-4F22-925B-75661EDB3782}" srcOrd="1" destOrd="0" parTransId="{02E39F6A-49A5-4697-85F6-11CE3F99F0DA}" sibTransId="{61C3641A-7082-40CA-A7AA-7150AF703850}"/>
    <dgm:cxn modelId="{F55C5A70-9E49-4D80-9BCA-861D61693C52}" type="presOf" srcId="{A3E02F7D-C43B-45B0-80FD-24AAC14BAB65}" destId="{3598B651-8A7B-4826-9B94-5B0F24C6D477}" srcOrd="0" destOrd="0" presId="urn:microsoft.com/office/officeart/2005/8/layout/gear1"/>
    <dgm:cxn modelId="{3B410E78-4081-4427-913B-848530486952}" type="presOf" srcId="{F0A7BC72-B1C2-4CD9-881F-28F473D0E8E8}" destId="{D18DAF55-BD3F-4187-9FE8-40A0DA52BBEA}" srcOrd="2" destOrd="0" presId="urn:microsoft.com/office/officeart/2005/8/layout/gear1"/>
    <dgm:cxn modelId="{4F331487-B49A-4B6A-B637-68B01FEE5830}" type="presOf" srcId="{F0A7BC72-B1C2-4CD9-881F-28F473D0E8E8}" destId="{A348BF0B-0B28-4632-B91C-2DEE5457588D}" srcOrd="0" destOrd="0" presId="urn:microsoft.com/office/officeart/2005/8/layout/gear1"/>
    <dgm:cxn modelId="{49035888-F3B7-4EFC-A17B-9C5AE2FC8DDB}" type="presOf" srcId="{61C3641A-7082-40CA-A7AA-7150AF703850}" destId="{08DE2B86-90BD-4C25-A537-BC4F1F04A91A}" srcOrd="0" destOrd="0" presId="urn:microsoft.com/office/officeart/2005/8/layout/gear1"/>
    <dgm:cxn modelId="{AD25529E-8605-4D6C-A8FE-689DCCE8ACFD}" type="presOf" srcId="{5CB4B79E-8BD4-4F03-83B8-7DCBA49D76EF}" destId="{D8351DD4-621A-4DBB-A448-69FF60A8DCF4}" srcOrd="3" destOrd="0" presId="urn:microsoft.com/office/officeart/2005/8/layout/gear1"/>
    <dgm:cxn modelId="{9C2126C6-79CC-443B-A1BB-28DD2895E67A}" type="presOf" srcId="{F0A7BC72-B1C2-4CD9-881F-28F473D0E8E8}" destId="{303AA605-6570-42EC-A6C1-02443E530D2C}" srcOrd="1" destOrd="0" presId="urn:microsoft.com/office/officeart/2005/8/layout/gear1"/>
    <dgm:cxn modelId="{C52EE4CD-B521-4A3A-BEE9-210F76BE0582}" type="presOf" srcId="{5CB4B79E-8BD4-4F03-83B8-7DCBA49D76EF}" destId="{5BBE094C-886A-40C4-99DB-6ACB1ACD8FD7}" srcOrd="1" destOrd="0" presId="urn:microsoft.com/office/officeart/2005/8/layout/gear1"/>
    <dgm:cxn modelId="{9C8044E0-E272-4745-9F8B-56BC3D9F9AF5}" type="presOf" srcId="{5CB4B79E-8BD4-4F03-83B8-7DCBA49D76EF}" destId="{F946B1DE-0F42-4B7A-AD93-D0ABF1FA7BD4}" srcOrd="0" destOrd="0" presId="urn:microsoft.com/office/officeart/2005/8/layout/gear1"/>
    <dgm:cxn modelId="{A07A04E7-E745-4491-81C0-E0F8074B8BF3}" type="presOf" srcId="{A9E6D72D-784A-4F22-925B-75661EDB3782}" destId="{CD88729B-DFB0-47AB-B29D-9E50148B4683}" srcOrd="1" destOrd="0" presId="urn:microsoft.com/office/officeart/2005/8/layout/gear1"/>
    <dgm:cxn modelId="{C5A2519F-B82B-484F-93AF-8A190221C25E}" type="presParOf" srcId="{902F722B-9946-45E5-A398-CE32AD45FF30}" destId="{A348BF0B-0B28-4632-B91C-2DEE5457588D}" srcOrd="0" destOrd="0" presId="urn:microsoft.com/office/officeart/2005/8/layout/gear1"/>
    <dgm:cxn modelId="{2612A51B-AC36-4257-81D5-BBC9473ED433}" type="presParOf" srcId="{902F722B-9946-45E5-A398-CE32AD45FF30}" destId="{303AA605-6570-42EC-A6C1-02443E530D2C}" srcOrd="1" destOrd="0" presId="urn:microsoft.com/office/officeart/2005/8/layout/gear1"/>
    <dgm:cxn modelId="{F4CC46DA-22A1-4E2C-9622-25275A75CDD9}" type="presParOf" srcId="{902F722B-9946-45E5-A398-CE32AD45FF30}" destId="{D18DAF55-BD3F-4187-9FE8-40A0DA52BBEA}" srcOrd="2" destOrd="0" presId="urn:microsoft.com/office/officeart/2005/8/layout/gear1"/>
    <dgm:cxn modelId="{DC89F626-99E3-4ACD-BF27-7A89DA8D12FF}" type="presParOf" srcId="{902F722B-9946-45E5-A398-CE32AD45FF30}" destId="{9B000834-730D-442E-8AA8-294820A0652D}" srcOrd="3" destOrd="0" presId="urn:microsoft.com/office/officeart/2005/8/layout/gear1"/>
    <dgm:cxn modelId="{FF2F3B9E-9484-4A51-9CAA-7C8556F83B6D}" type="presParOf" srcId="{902F722B-9946-45E5-A398-CE32AD45FF30}" destId="{CD88729B-DFB0-47AB-B29D-9E50148B4683}" srcOrd="4" destOrd="0" presId="urn:microsoft.com/office/officeart/2005/8/layout/gear1"/>
    <dgm:cxn modelId="{DBD3066D-E4E8-4572-B92E-380C13A75098}" type="presParOf" srcId="{902F722B-9946-45E5-A398-CE32AD45FF30}" destId="{91730FD7-DF0C-4DF6-8D55-785036143692}" srcOrd="5" destOrd="0" presId="urn:microsoft.com/office/officeart/2005/8/layout/gear1"/>
    <dgm:cxn modelId="{DCD034ED-63AD-4E1A-8DBE-3D0A5FC5E99A}" type="presParOf" srcId="{902F722B-9946-45E5-A398-CE32AD45FF30}" destId="{F946B1DE-0F42-4B7A-AD93-D0ABF1FA7BD4}" srcOrd="6" destOrd="0" presId="urn:microsoft.com/office/officeart/2005/8/layout/gear1"/>
    <dgm:cxn modelId="{53AE8572-EE51-4032-A616-8F8AEBC4FF2B}" type="presParOf" srcId="{902F722B-9946-45E5-A398-CE32AD45FF30}" destId="{5BBE094C-886A-40C4-99DB-6ACB1ACD8FD7}" srcOrd="7" destOrd="0" presId="urn:microsoft.com/office/officeart/2005/8/layout/gear1"/>
    <dgm:cxn modelId="{55216B11-FCF7-45F6-B692-936872312107}" type="presParOf" srcId="{902F722B-9946-45E5-A398-CE32AD45FF30}" destId="{6A8044FC-82BE-435E-B0AA-FA34B7C734BE}" srcOrd="8" destOrd="0" presId="urn:microsoft.com/office/officeart/2005/8/layout/gear1"/>
    <dgm:cxn modelId="{8D804BD3-1796-4B32-AC15-821F99DD71BD}" type="presParOf" srcId="{902F722B-9946-45E5-A398-CE32AD45FF30}" destId="{D8351DD4-621A-4DBB-A448-69FF60A8DCF4}" srcOrd="9" destOrd="0" presId="urn:microsoft.com/office/officeart/2005/8/layout/gear1"/>
    <dgm:cxn modelId="{40654D92-B954-4649-B152-9B1D1F690A32}" type="presParOf" srcId="{902F722B-9946-45E5-A398-CE32AD45FF30}" destId="{3598B651-8A7B-4826-9B94-5B0F24C6D477}" srcOrd="10" destOrd="0" presId="urn:microsoft.com/office/officeart/2005/8/layout/gear1"/>
    <dgm:cxn modelId="{BD173A31-0699-453F-8870-40EA8408468F}" type="presParOf" srcId="{902F722B-9946-45E5-A398-CE32AD45FF30}" destId="{08DE2B86-90BD-4C25-A537-BC4F1F04A91A}" srcOrd="11" destOrd="0" presId="urn:microsoft.com/office/officeart/2005/8/layout/gear1"/>
    <dgm:cxn modelId="{6D5C1CFF-BEA5-4FF3-9CB3-778AD1F5B94B}" type="presParOf" srcId="{902F722B-9946-45E5-A398-CE32AD45FF30}" destId="{E8DA7508-FEA2-466B-9560-87DF64789BFC}" srcOrd="12" destOrd="0" presId="urn:microsoft.com/office/officeart/2005/8/layout/gear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F7D42BA-2426-440A-9D83-AA1042D7690C}" type="doc">
      <dgm:prSet loTypeId="urn:microsoft.com/office/officeart/2005/8/layout/hProcess9" loCatId="process" qsTypeId="urn:microsoft.com/office/officeart/2005/8/quickstyle/simple1#2" qsCatId="simple" csTypeId="urn:microsoft.com/office/officeart/2005/8/colors/colorful5#4" csCatId="colorful" phldr="1"/>
      <dgm:spPr/>
    </dgm:pt>
    <dgm:pt modelId="{D0786398-1679-48B4-ADAC-3A5C4C5977D7}">
      <dgm:prSet phldrT="[文字]"/>
      <dgm:spPr/>
      <dgm:t>
        <a:bodyPr/>
        <a:lstStyle/>
        <a:p>
          <a:pPr>
            <a:buNone/>
          </a:pPr>
          <a:r>
            <a:rPr lang="en-US" b="1" dirty="0">
              <a:latin typeface="Times New Roman" panose="02020603050405020304" pitchFamily="18" charset="0"/>
              <a:ea typeface="微軟正黑體" panose="020B0604030504040204" pitchFamily="34" charset="-120"/>
              <a:cs typeface="Cambria" pitchFamily="34" charset="-120"/>
            </a:rPr>
            <a:t>形</a:t>
          </a:r>
          <a:endParaRPr lang="zh-TW" altLang="en-US" dirty="0"/>
        </a:p>
      </dgm:t>
    </dgm:pt>
    <dgm:pt modelId="{29BE94B8-FC71-45D3-AAAB-579B5DB7085C}" type="parTrans" cxnId="{16750598-79A8-4CBF-A80C-9208A1228D57}">
      <dgm:prSet/>
      <dgm:spPr/>
      <dgm:t>
        <a:bodyPr/>
        <a:lstStyle/>
        <a:p>
          <a:endParaRPr lang="zh-TW" altLang="en-US"/>
        </a:p>
      </dgm:t>
    </dgm:pt>
    <dgm:pt modelId="{C6FEBC37-96D0-4819-8EE4-A639164C7516}" type="sibTrans" cxnId="{16750598-79A8-4CBF-A80C-9208A1228D57}">
      <dgm:prSet/>
      <dgm:spPr/>
      <dgm:t>
        <a:bodyPr/>
        <a:lstStyle/>
        <a:p>
          <a:endParaRPr lang="zh-TW" altLang="en-US"/>
        </a:p>
      </dgm:t>
    </dgm:pt>
    <dgm:pt modelId="{07BB54B9-0CB5-462C-B0E2-62AC94D42C7A}">
      <dgm:prSet phldrT="[文字]"/>
      <dgm:spPr/>
      <dgm:t>
        <a:bodyPr/>
        <a:lstStyle/>
        <a:p>
          <a:pPr>
            <a:buNone/>
          </a:pPr>
          <a:r>
            <a:rPr lang="en-US" b="1">
              <a:latin typeface="Times New Roman" panose="02020603050405020304" pitchFamily="18" charset="0"/>
              <a:ea typeface="微軟正黑體" panose="020B0604030504040204" pitchFamily="34" charset="-120"/>
              <a:cs typeface="Cambria" pitchFamily="34" charset="-120"/>
            </a:rPr>
            <a:t>數</a:t>
          </a:r>
          <a:endParaRPr lang="zh-TW" altLang="en-US" dirty="0"/>
        </a:p>
      </dgm:t>
    </dgm:pt>
    <dgm:pt modelId="{9B0182B1-0527-4444-AC4F-FD22F58F17F4}" type="parTrans" cxnId="{1707BF6E-F104-421A-994A-A7FA85B04B53}">
      <dgm:prSet/>
      <dgm:spPr/>
      <dgm:t>
        <a:bodyPr/>
        <a:lstStyle/>
        <a:p>
          <a:endParaRPr lang="zh-TW" altLang="en-US"/>
        </a:p>
      </dgm:t>
    </dgm:pt>
    <dgm:pt modelId="{A79A278D-B985-4CEF-AB66-530B3F43F51D}" type="sibTrans" cxnId="{1707BF6E-F104-421A-994A-A7FA85B04B53}">
      <dgm:prSet/>
      <dgm:spPr/>
      <dgm:t>
        <a:bodyPr/>
        <a:lstStyle/>
        <a:p>
          <a:endParaRPr lang="zh-TW" altLang="en-US"/>
        </a:p>
      </dgm:t>
    </dgm:pt>
    <dgm:pt modelId="{0B0D20AA-C817-44D1-A008-455DC7070ED3}" type="pres">
      <dgm:prSet presAssocID="{4F7D42BA-2426-440A-9D83-AA1042D7690C}" presName="CompostProcess" presStyleCnt="0">
        <dgm:presLayoutVars>
          <dgm:dir/>
          <dgm:resizeHandles val="exact"/>
        </dgm:presLayoutVars>
      </dgm:prSet>
      <dgm:spPr/>
    </dgm:pt>
    <dgm:pt modelId="{644FB97F-7C5D-47F9-8F2E-65B5F98123D4}" type="pres">
      <dgm:prSet presAssocID="{4F7D42BA-2426-440A-9D83-AA1042D7690C}" presName="arrow" presStyleLbl="bgShp" presStyleIdx="0" presStyleCnt="1"/>
      <dgm:spPr/>
    </dgm:pt>
    <dgm:pt modelId="{4BB2C1F3-F3F0-42E5-A769-D310C47EE6C8}" type="pres">
      <dgm:prSet presAssocID="{4F7D42BA-2426-440A-9D83-AA1042D7690C}" presName="linearProcess" presStyleCnt="0"/>
      <dgm:spPr/>
    </dgm:pt>
    <dgm:pt modelId="{D8EF338F-5AC1-4752-ADDA-7E59D3A94C46}" type="pres">
      <dgm:prSet presAssocID="{D0786398-1679-48B4-ADAC-3A5C4C5977D7}" presName="textNode" presStyleLbl="node1" presStyleIdx="0" presStyleCnt="2">
        <dgm:presLayoutVars>
          <dgm:bulletEnabled val="1"/>
        </dgm:presLayoutVars>
      </dgm:prSet>
      <dgm:spPr/>
    </dgm:pt>
    <dgm:pt modelId="{995E21D5-A002-4D4E-B013-3A97B4B89AD5}" type="pres">
      <dgm:prSet presAssocID="{C6FEBC37-96D0-4819-8EE4-A639164C7516}" presName="sibTrans" presStyleCnt="0"/>
      <dgm:spPr/>
    </dgm:pt>
    <dgm:pt modelId="{956B625B-0595-4498-8694-00C3FAB15140}" type="pres">
      <dgm:prSet presAssocID="{07BB54B9-0CB5-462C-B0E2-62AC94D42C7A}" presName="textNode" presStyleLbl="node1" presStyleIdx="1" presStyleCnt="2">
        <dgm:presLayoutVars>
          <dgm:bulletEnabled val="1"/>
        </dgm:presLayoutVars>
      </dgm:prSet>
      <dgm:spPr/>
    </dgm:pt>
  </dgm:ptLst>
  <dgm:cxnLst>
    <dgm:cxn modelId="{1707BF6E-F104-421A-994A-A7FA85B04B53}" srcId="{4F7D42BA-2426-440A-9D83-AA1042D7690C}" destId="{07BB54B9-0CB5-462C-B0E2-62AC94D42C7A}" srcOrd="1" destOrd="0" parTransId="{9B0182B1-0527-4444-AC4F-FD22F58F17F4}" sibTransId="{A79A278D-B985-4CEF-AB66-530B3F43F51D}"/>
    <dgm:cxn modelId="{ED1CFA79-6809-4A44-B865-5B4C6D2A25CB}" type="presOf" srcId="{D0786398-1679-48B4-ADAC-3A5C4C5977D7}" destId="{D8EF338F-5AC1-4752-ADDA-7E59D3A94C46}" srcOrd="0" destOrd="0" presId="urn:microsoft.com/office/officeart/2005/8/layout/hProcess9"/>
    <dgm:cxn modelId="{4BBC9685-4680-43FD-B519-372E56B1F427}" type="presOf" srcId="{07BB54B9-0CB5-462C-B0E2-62AC94D42C7A}" destId="{956B625B-0595-4498-8694-00C3FAB15140}" srcOrd="0" destOrd="0" presId="urn:microsoft.com/office/officeart/2005/8/layout/hProcess9"/>
    <dgm:cxn modelId="{16750598-79A8-4CBF-A80C-9208A1228D57}" srcId="{4F7D42BA-2426-440A-9D83-AA1042D7690C}" destId="{D0786398-1679-48B4-ADAC-3A5C4C5977D7}" srcOrd="0" destOrd="0" parTransId="{29BE94B8-FC71-45D3-AAAB-579B5DB7085C}" sibTransId="{C6FEBC37-96D0-4819-8EE4-A639164C7516}"/>
    <dgm:cxn modelId="{8A9FDFF1-29B1-498F-A591-78D04B3854D7}" type="presOf" srcId="{4F7D42BA-2426-440A-9D83-AA1042D7690C}" destId="{0B0D20AA-C817-44D1-A008-455DC7070ED3}" srcOrd="0" destOrd="0" presId="urn:microsoft.com/office/officeart/2005/8/layout/hProcess9"/>
    <dgm:cxn modelId="{EC597625-BD63-47EF-A390-9E68CE7CA512}" type="presParOf" srcId="{0B0D20AA-C817-44D1-A008-455DC7070ED3}" destId="{644FB97F-7C5D-47F9-8F2E-65B5F98123D4}" srcOrd="0" destOrd="0" presId="urn:microsoft.com/office/officeart/2005/8/layout/hProcess9"/>
    <dgm:cxn modelId="{86E8EE9B-9BCA-4F43-8F3F-30E4E7179C54}" type="presParOf" srcId="{0B0D20AA-C817-44D1-A008-455DC7070ED3}" destId="{4BB2C1F3-F3F0-42E5-A769-D310C47EE6C8}" srcOrd="1" destOrd="0" presId="urn:microsoft.com/office/officeart/2005/8/layout/hProcess9"/>
    <dgm:cxn modelId="{80AF9ED0-DC3E-4FE3-86C5-CA4BAB115B04}" type="presParOf" srcId="{4BB2C1F3-F3F0-42E5-A769-D310C47EE6C8}" destId="{D8EF338F-5AC1-4752-ADDA-7E59D3A94C46}" srcOrd="0" destOrd="0" presId="urn:microsoft.com/office/officeart/2005/8/layout/hProcess9"/>
    <dgm:cxn modelId="{09FB5020-98C5-4991-B9A7-A39CC0E4CC52}" type="presParOf" srcId="{4BB2C1F3-F3F0-42E5-A769-D310C47EE6C8}" destId="{995E21D5-A002-4D4E-B013-3A97B4B89AD5}" srcOrd="1" destOrd="0" presId="urn:microsoft.com/office/officeart/2005/8/layout/hProcess9"/>
    <dgm:cxn modelId="{40FAD9D9-C05A-470F-B841-AD3E892C5162}" type="presParOf" srcId="{4BB2C1F3-F3F0-42E5-A769-D310C47EE6C8}" destId="{956B625B-0595-4498-8694-00C3FAB15140}" srcOrd="2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48BF0B-0B28-4632-B91C-2DEE5457588D}">
      <dsp:nvSpPr>
        <dsp:cNvPr id="0" name=""/>
        <dsp:cNvSpPr/>
      </dsp:nvSpPr>
      <dsp:spPr>
        <a:xfrm>
          <a:off x="2699414" y="2431868"/>
          <a:ext cx="2972283" cy="2972283"/>
        </a:xfrm>
        <a:prstGeom prst="gear9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3300" b="0" kern="1200" dirty="0">
              <a:latin typeface="HGPMinchoE" panose="02020800000000000000" pitchFamily="18" charset="-128"/>
              <a:ea typeface="HGPMinchoE" panose="02020800000000000000" pitchFamily="18" charset="-128"/>
            </a:rPr>
            <a:t>理解思考</a:t>
          </a:r>
        </a:p>
      </dsp:txBody>
      <dsp:txXfrm>
        <a:off x="3296975" y="3128111"/>
        <a:ext cx="1777161" cy="1527815"/>
      </dsp:txXfrm>
    </dsp:sp>
    <dsp:sp modelId="{9B000834-730D-442E-8AA8-294820A0652D}">
      <dsp:nvSpPr>
        <dsp:cNvPr id="0" name=""/>
        <dsp:cNvSpPr/>
      </dsp:nvSpPr>
      <dsp:spPr>
        <a:xfrm>
          <a:off x="970085" y="1729328"/>
          <a:ext cx="2161660" cy="2161660"/>
        </a:xfrm>
        <a:prstGeom prst="gear6">
          <a:avLst/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3300" b="0" kern="1200">
              <a:latin typeface="HGPMinchoE" panose="02020800000000000000" pitchFamily="18" charset="-128"/>
              <a:ea typeface="HGPMinchoE" panose="02020800000000000000" pitchFamily="18" charset="-128"/>
            </a:rPr>
            <a:t>本形學</a:t>
          </a:r>
          <a:endParaRPr lang="zh-TW" altLang="en-US" sz="3300" b="0" kern="1200" dirty="0">
            <a:latin typeface="HGPMinchoE" panose="02020800000000000000" pitchFamily="18" charset="-128"/>
            <a:ea typeface="HGPMinchoE" panose="02020800000000000000" pitchFamily="18" charset="-128"/>
          </a:endParaRPr>
        </a:p>
      </dsp:txBody>
      <dsp:txXfrm>
        <a:off x="1514289" y="2276822"/>
        <a:ext cx="1073252" cy="1066672"/>
      </dsp:txXfrm>
    </dsp:sp>
    <dsp:sp modelId="{F946B1DE-0F42-4B7A-AD93-D0ABF1FA7BD4}">
      <dsp:nvSpPr>
        <dsp:cNvPr id="0" name=""/>
        <dsp:cNvSpPr/>
      </dsp:nvSpPr>
      <dsp:spPr>
        <a:xfrm rot="20700000">
          <a:off x="2180836" y="238003"/>
          <a:ext cx="2117986" cy="2117986"/>
        </a:xfrm>
        <a:prstGeom prst="gear6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3300" b="0" kern="1200">
              <a:latin typeface="HGPMinchoE" panose="02020800000000000000" pitchFamily="18" charset="-128"/>
              <a:ea typeface="HGPMinchoE" panose="02020800000000000000" pitchFamily="18" charset="-128"/>
            </a:rPr>
            <a:t>數學</a:t>
          </a:r>
          <a:endParaRPr lang="zh-TW" altLang="en-US" sz="3300" b="0" kern="1200" dirty="0">
            <a:latin typeface="HGPMinchoE" panose="02020800000000000000" pitchFamily="18" charset="-128"/>
            <a:ea typeface="HGPMinchoE" panose="02020800000000000000" pitchFamily="18" charset="-128"/>
          </a:endParaRPr>
        </a:p>
      </dsp:txBody>
      <dsp:txXfrm rot="-20700000">
        <a:off x="2645372" y="702539"/>
        <a:ext cx="1188913" cy="1188913"/>
      </dsp:txXfrm>
    </dsp:sp>
    <dsp:sp modelId="{3598B651-8A7B-4826-9B94-5B0F24C6D477}">
      <dsp:nvSpPr>
        <dsp:cNvPr id="0" name=""/>
        <dsp:cNvSpPr/>
      </dsp:nvSpPr>
      <dsp:spPr>
        <a:xfrm>
          <a:off x="2484374" y="1975631"/>
          <a:ext cx="3804523" cy="3804523"/>
        </a:xfrm>
        <a:prstGeom prst="circularArrow">
          <a:avLst>
            <a:gd name="adj1" fmla="val 4687"/>
            <a:gd name="adj2" fmla="val 299029"/>
            <a:gd name="adj3" fmla="val 2539077"/>
            <a:gd name="adj4" fmla="val 15812775"/>
            <a:gd name="adj5" fmla="val 5469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DE2B86-90BD-4C25-A537-BC4F1F04A91A}">
      <dsp:nvSpPr>
        <dsp:cNvPr id="0" name=""/>
        <dsp:cNvSpPr/>
      </dsp:nvSpPr>
      <dsp:spPr>
        <a:xfrm>
          <a:off x="587259" y="1245842"/>
          <a:ext cx="2764223" cy="2764223"/>
        </a:xfrm>
        <a:prstGeom prst="leftCircularArrow">
          <a:avLst>
            <a:gd name="adj1" fmla="val 6452"/>
            <a:gd name="adj2" fmla="val 429999"/>
            <a:gd name="adj3" fmla="val 10489124"/>
            <a:gd name="adj4" fmla="val 14837806"/>
            <a:gd name="adj5" fmla="val 7527"/>
          </a:avLst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DA7508-FEA2-466B-9560-87DF64789BFC}">
      <dsp:nvSpPr>
        <dsp:cNvPr id="0" name=""/>
        <dsp:cNvSpPr/>
      </dsp:nvSpPr>
      <dsp:spPr>
        <a:xfrm>
          <a:off x="1690924" y="-231107"/>
          <a:ext cx="2980389" cy="2980389"/>
        </a:xfrm>
        <a:prstGeom prst="circularArrow">
          <a:avLst>
            <a:gd name="adj1" fmla="val 5984"/>
            <a:gd name="adj2" fmla="val 394124"/>
            <a:gd name="adj3" fmla="val 13313824"/>
            <a:gd name="adj4" fmla="val 10508221"/>
            <a:gd name="adj5" fmla="val 6981"/>
          </a:avLst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4FB97F-7C5D-47F9-8F2E-65B5F98123D4}">
      <dsp:nvSpPr>
        <dsp:cNvPr id="0" name=""/>
        <dsp:cNvSpPr/>
      </dsp:nvSpPr>
      <dsp:spPr>
        <a:xfrm>
          <a:off x="465037" y="0"/>
          <a:ext cx="5270427" cy="4927842"/>
        </a:xfrm>
        <a:prstGeom prst="rightArrow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EF338F-5AC1-4752-ADDA-7E59D3A94C46}">
      <dsp:nvSpPr>
        <dsp:cNvPr id="0" name=""/>
        <dsp:cNvSpPr/>
      </dsp:nvSpPr>
      <dsp:spPr>
        <a:xfrm>
          <a:off x="1085088" y="1478352"/>
          <a:ext cx="1860150" cy="1971136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3840" tIns="243840" rIns="243840" bIns="243840" numCol="1" spcCol="1270" anchor="ctr" anchorCtr="0">
          <a:noAutofit/>
        </a:bodyPr>
        <a:lstStyle/>
        <a:p>
          <a:pPr marL="0" lvl="0" indent="0" algn="ctr" defTabSz="2844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400" b="1" kern="1200" dirty="0">
              <a:latin typeface="Times New Roman" panose="02020603050405020304" pitchFamily="18" charset="0"/>
              <a:ea typeface="微軟正黑體" panose="020B0604030504040204" pitchFamily="34" charset="-120"/>
              <a:cs typeface="Cambria" pitchFamily="34" charset="-120"/>
            </a:rPr>
            <a:t>形</a:t>
          </a:r>
          <a:endParaRPr lang="zh-TW" altLang="en-US" sz="6400" kern="1200" dirty="0"/>
        </a:p>
      </dsp:txBody>
      <dsp:txXfrm>
        <a:off x="1175893" y="1569157"/>
        <a:ext cx="1678540" cy="1789526"/>
      </dsp:txXfrm>
    </dsp:sp>
    <dsp:sp modelId="{956B625B-0595-4498-8694-00C3FAB15140}">
      <dsp:nvSpPr>
        <dsp:cNvPr id="0" name=""/>
        <dsp:cNvSpPr/>
      </dsp:nvSpPr>
      <dsp:spPr>
        <a:xfrm>
          <a:off x="3255264" y="1478352"/>
          <a:ext cx="1860150" cy="1971136"/>
        </a:xfrm>
        <a:prstGeom prst="round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3840" tIns="243840" rIns="243840" bIns="243840" numCol="1" spcCol="1270" anchor="ctr" anchorCtr="0">
          <a:noAutofit/>
        </a:bodyPr>
        <a:lstStyle/>
        <a:p>
          <a:pPr marL="0" lvl="0" indent="0" algn="ctr" defTabSz="2844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400" b="1" kern="1200">
              <a:latin typeface="Times New Roman" panose="02020603050405020304" pitchFamily="18" charset="0"/>
              <a:ea typeface="微軟正黑體" panose="020B0604030504040204" pitchFamily="34" charset="-120"/>
              <a:cs typeface="Cambria" pitchFamily="34" charset="-120"/>
            </a:rPr>
            <a:t>數</a:t>
          </a:r>
          <a:endParaRPr lang="zh-TW" altLang="en-US" sz="6400" kern="1200" dirty="0"/>
        </a:p>
      </dsp:txBody>
      <dsp:txXfrm>
        <a:off x="3346069" y="1569157"/>
        <a:ext cx="1678540" cy="178952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gear1">
  <dgm:title val=""/>
  <dgm:desc val=""/>
  <dgm:catLst>
    <dgm:cat type="relationship" pri="3000"/>
    <dgm:cat type="process" pri="28000"/>
    <dgm:cat type="cycle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composite">
    <dgm:varLst>
      <dgm:chMax val="3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1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05"/>
          <dgm:constr type="t" for="ch" forName="gear1" refType="w" fact="0.05"/>
          <dgm:constr type="w" for="ch" forName="gear1srcNode" val="1"/>
          <dgm:constr type="h" for="ch" forName="gear1srcNode" val="1"/>
          <dgm:constr type="l" for="ch" forName="gear1srcNode" refType="w" fact="0.32"/>
          <dgm:constr type="t" for="ch" forName="gear1srcNode"/>
          <dgm:constr type="w" for="ch" forName="gear1dstNode" val="1"/>
          <dgm:constr type="h" for="ch" forName="gear1dstNode" val="1"/>
          <dgm:constr type="r" for="ch" forName="gear1dstNode" refType="w" fact="0.58"/>
          <dgm:constr type="t" for="ch" forName="gear1dstNode" refType="h" fact="0.5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/>
          <dgm:constr type="b" for="ch" forName="gear1ch" refType="h" fact="0.6"/>
        </dgm:constrLst>
      </dgm:if>
      <dgm:if name="Name2" axis="ch" ptType="node" func="cnt" op="equ" val="2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2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2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7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w" fact="0.8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1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0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3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 refType="w" fact="0.34"/>
          <dgm:constr type="t" for="ch" forName="gear2ch" refType="w" fact="0.04"/>
        </dgm:constrLst>
      </dgm:if>
      <dgm:else name="Name3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4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4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95"/>
          <dgm:constr type="diam" for="des" forName="connector1" refType="w" refFor="ch" refForName="gear1" op="equ" fact="1.15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h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3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2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5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/>
          <dgm:constr type="t" for="ch" forName="gear2ch" refType="w" fact="0.58"/>
          <dgm:constr type="w" for="ch" forName="gear3" refType="w" fact="0.48"/>
          <dgm:constr type="h" for="ch" forName="gear3" refType="w" fact="0.48"/>
          <dgm:constr type="l" for="ch" forName="gear3" refType="w" fact="0.31"/>
          <dgm:constr type="t" for="ch" forName="gear3"/>
          <dgm:constr type="w" for="ch" forName="gear3tx" refType="w" fact="0.22"/>
          <dgm:constr type="h" for="ch" forName="gear3tx" refType="w" fact="0.22"/>
          <dgm:constr type="ctrX" for="ch" forName="gear3tx" refType="ctrX" refFor="ch" refForName="gear3"/>
          <dgm:constr type="ctrY" for="ch" forName="gear3tx" refType="ctrY" refFor="ch" refForName="gear3"/>
          <dgm:constr type="w" for="ch" forName="gear3srcNode" val="1"/>
          <dgm:constr type="h" for="ch" forName="gear3srcNode" val="1"/>
          <dgm:constr type="l" for="ch" forName="gear3srcNode" refType="w" fact="0.3"/>
          <dgm:constr type="t" for="ch" forName="gear3srcNode" refType="w" fact="0.25"/>
          <dgm:constr type="w" for="ch" forName="gear3dstNode" val="1"/>
          <dgm:constr type="h" for="ch" forName="gear3dstNode" val="1"/>
          <dgm:constr type="l" for="ch" forName="gear3dstNode" refType="w" fact="0.38"/>
          <dgm:constr type="t" for="ch" forName="gear3dstNode" refType="h" fact="0.05"/>
          <dgm:constr type="diam" for="des" forName="connector3" refType="w" refFor="ch" refForName="gear3" op="equ"/>
          <dgm:constr type="h" for="des" forName="connector3" refType="w" refFor="ch" refForName="gear1" op="equ" fact="0.1"/>
          <dgm:constr type="w" for="ch" forName="gear3ch" refType="w" fact="0.35"/>
          <dgm:constr type="h" for="ch" forName="gear3ch" refType="w" refFor="ch" refForName="gear3ch" fact="0.6"/>
          <dgm:constr type="l" for="ch" forName="gear3ch" refType="w" fact="0.65"/>
          <dgm:constr type="t" for="ch" forName="gear3ch" refType="h" fact="0.13"/>
        </dgm:constrLst>
      </dgm:else>
    </dgm:choose>
    <dgm:ruleLst/>
    <dgm:forEach name="Name4" axis="ch" ptType="node" cnt="1">
      <dgm:layoutNode name="gear1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9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1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1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5">
        <dgm:if name="Name6" axis="ch" ptType="node" func="cnt" op="gte" val="1">
          <dgm:layoutNode name="gear1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7"/>
      </dgm:choose>
    </dgm:forEach>
    <dgm:forEach name="Name8" axis="ch" ptType="node" st="2" cnt="1">
      <dgm:layoutNode name="gear2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6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2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2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9">
        <dgm:if name="Name10" axis="ch" ptType="node" func="cnt" op="gte" val="1">
          <dgm:layoutNode name="gear2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1"/>
      </dgm:choose>
    </dgm:forEach>
    <dgm:forEach name="Name12" axis="ch" ptType="node" st="3" cnt="1">
      <dgm:layoutNode name="gear3" styleLbl="node1">
        <dgm:alg type="sp"/>
        <dgm:shape xmlns:r="http://schemas.openxmlformats.org/officeDocument/2006/relationships" rot="-15" type="gear6" r:blip="">
          <dgm:adjLst/>
        </dgm:shape>
        <dgm:presOf axis="self"/>
        <dgm:constrLst/>
        <dgm:ruleLst/>
      </dgm:layoutNode>
      <dgm:layoutNode name="gear3tx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3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3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13">
        <dgm:if name="Name14" axis="ch" ptType="node" func="cnt" op="gte" val="1">
          <dgm:layoutNode name="gear3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5"/>
      </dgm:choose>
    </dgm:forEach>
    <dgm:forEach name="Name16" axis="ch" ptType="sibTrans" hideLastTrans="0" cnt="1">
      <dgm:layoutNode name="connector1" styleLbl="sibTrans2D1">
        <dgm:alg type="conn">
          <dgm:param type="connRout" val="curve"/>
          <dgm:param type="srcNode" val="gear1srcNode"/>
          <dgm:param type="dstNode" val="gear1dstNode"/>
          <dgm:param type="begPts" val="midR"/>
          <dgm:param type="endPts" val="tCtr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7" axis="ch" ptType="sibTrans" hideLastTrans="0" st="2" cnt="1">
      <dgm:layoutNode name="connector2" styleLbl="sibTrans2D1">
        <dgm:alg type="conn">
          <dgm:param type="connRout" val="curve"/>
          <dgm:param type="srcNode" val="gear2srcNode"/>
          <dgm:param type="dstNode" val="gear2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8" axis="ch" ptType="sibTrans" hideLastTrans="0" st="3" cnt="1">
      <dgm:layoutNode name="connector3" styleLbl="sibTrans2D1">
        <dgm:alg type="conn">
          <dgm:param type="connRout" val="curve"/>
          <dgm:param type="srcNode" val="gear3srcNode"/>
          <dgm:param type="dstNode" val="gear3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84868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5ADA6-049C-3CEA-AFB1-0BD4FC468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406462-AEC5-F8D8-AF28-0BEE712C23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44F928-163D-DD11-B15B-85828F3B66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D635A-7682-4D53-183A-83ACF1AD5F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6961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AAC5C-57E8-4F02-E649-F75CB55EC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5149FD-FF53-CB13-ED1C-4B07F92457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E663AC-3D41-6585-3456-0E8DE035B2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6C6B5F-104A-23BC-39E9-F8EF0F7719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6403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853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mailto:gamma@livemail.tw" TargetMode="External"/><Relationship Id="rId2" Type="http://schemas.openxmlformats.org/officeDocument/2006/relationships/hyperlink" Target="mailto:mindaiworks@gmail.com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longreat.net/" TargetMode="Externa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C8AAB8-5679-FB0F-A096-4FE713A97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5">
            <a:extLst>
              <a:ext uri="{FF2B5EF4-FFF2-40B4-BE49-F238E27FC236}">
                <a16:creationId xmlns:a16="http://schemas.microsoft.com/office/drawing/2014/main" id="{A76E9FA8-153C-877E-98AD-2E3C0911F3D8}"/>
              </a:ext>
            </a:extLst>
          </p:cNvPr>
          <p:cNvSpPr/>
          <p:nvPr/>
        </p:nvSpPr>
        <p:spPr>
          <a:xfrm>
            <a:off x="2734492" y="467303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dist">
              <a:buNone/>
            </a:pPr>
            <a:r>
              <a:rPr lang="en-US" sz="4800" kern="0" spc="300" dirty="0" err="1">
                <a:solidFill>
                  <a:srgbClr val="1E2761"/>
                </a:solidFill>
                <a:latin typeface="HGMinchoE" panose="02020809000000000000" pitchFamily="49" charset="-128"/>
                <a:ea typeface="HGMinchoE" panose="02020809000000000000" pitchFamily="49" charset="-128"/>
                <a:cs typeface="Calibri" pitchFamily="34" charset="-120"/>
              </a:rPr>
              <a:t>本形學</a:t>
            </a:r>
            <a:r>
              <a:rPr lang="en-US" sz="4800" kern="0" spc="300" dirty="0">
                <a:solidFill>
                  <a:srgbClr val="1E2761"/>
                </a:solidFill>
                <a:latin typeface="HGMinchoE" panose="02020809000000000000" pitchFamily="49" charset="-128"/>
                <a:ea typeface="HGMinchoE" panose="02020809000000000000" pitchFamily="49" charset="-128"/>
                <a:cs typeface="Calibri" pitchFamily="34" charset="-120"/>
              </a:rPr>
              <a:t>　</a:t>
            </a:r>
            <a:r>
              <a:rPr lang="en-US" sz="4800" kern="0" spc="300" dirty="0" err="1">
                <a:solidFill>
                  <a:srgbClr val="1E2761"/>
                </a:solidFill>
                <a:latin typeface="HGMinchoE" panose="02020809000000000000" pitchFamily="49" charset="-128"/>
                <a:ea typeface="HGMinchoE" panose="02020809000000000000" pitchFamily="49" charset="-128"/>
                <a:cs typeface="Calibri" pitchFamily="34" charset="-120"/>
              </a:rPr>
              <a:t>Ontypology</a:t>
            </a:r>
            <a:endParaRPr lang="en-US" sz="4800" dirty="0">
              <a:solidFill>
                <a:srgbClr val="1E2761"/>
              </a:solidFill>
              <a:latin typeface="HGMinchoE" panose="02020809000000000000" pitchFamily="49" charset="-128"/>
              <a:ea typeface="HGMinchoE" panose="02020809000000000000" pitchFamily="49" charset="-128"/>
            </a:endParaRP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E7B20ACE-403E-6D02-E7E8-806F23DB2D4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4492" y="2757336"/>
            <a:ext cx="6426925" cy="3863921"/>
          </a:xfrm>
          <a:prstGeom prst="rect">
            <a:avLst/>
          </a:prstGeom>
          <a:noFill/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B68DAE42-BC76-50F5-8956-44F0A34D83C4}"/>
              </a:ext>
            </a:extLst>
          </p:cNvPr>
          <p:cNvSpPr txBox="1"/>
          <p:nvPr/>
        </p:nvSpPr>
        <p:spPr>
          <a:xfrm>
            <a:off x="1610852" y="1365200"/>
            <a:ext cx="9265923" cy="1118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zh-TW" altLang="en-US" sz="2000" kern="1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從異同到分合，從分合到形，從形到理解這條路，大腦走了億萬年。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zh-TW" altLang="zh-TW" sz="2000" kern="100" dirty="0">
                <a:solidFill>
                  <a:srgbClr val="FF0000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邏輯學百年前是哲學，當看清楚後是顯學</a:t>
            </a:r>
            <a:r>
              <a:rPr lang="en-US" altLang="zh-TW" sz="2000" kern="100" dirty="0">
                <a:solidFill>
                  <a:srgbClr val="FF0000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zh-TW" sz="2000" kern="100" dirty="0">
                <a:solidFill>
                  <a:srgbClr val="FF0000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科學</a:t>
            </a:r>
            <a:r>
              <a:rPr lang="en-US" altLang="zh-TW" sz="2000" kern="100" dirty="0">
                <a:solidFill>
                  <a:srgbClr val="FF0000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) </a:t>
            </a:r>
            <a:r>
              <a:rPr lang="zh-TW" altLang="zh-TW" sz="2000" kern="100" dirty="0">
                <a:solidFill>
                  <a:srgbClr val="FF0000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，今探討</a:t>
            </a:r>
            <a:r>
              <a:rPr lang="zh-TW" altLang="en-US" sz="2000" kern="100" dirty="0">
                <a:solidFill>
                  <a:srgbClr val="FF0000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「</a:t>
            </a:r>
            <a:r>
              <a:rPr lang="zh-TW" altLang="zh-TW" sz="2000" kern="100" dirty="0">
                <a:solidFill>
                  <a:srgbClr val="FF0000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形</a:t>
            </a:r>
            <a:r>
              <a:rPr lang="zh-TW" altLang="en-US" sz="2000" kern="100" dirty="0">
                <a:solidFill>
                  <a:srgbClr val="FF0000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」</a:t>
            </a:r>
            <a:r>
              <a:rPr lang="en-US" altLang="zh-TW" sz="2000" kern="100" dirty="0">
                <a:solidFill>
                  <a:srgbClr val="FF0000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zh-TW" sz="2000" kern="100" dirty="0">
                <a:solidFill>
                  <a:srgbClr val="FF0000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大腦概念</a:t>
            </a:r>
            <a:r>
              <a:rPr lang="en-US" altLang="zh-TW" sz="2000" kern="100" dirty="0">
                <a:solidFill>
                  <a:srgbClr val="FF0000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) </a:t>
            </a:r>
            <a:r>
              <a:rPr lang="zh-TW" altLang="zh-TW" sz="2000" kern="100" dirty="0">
                <a:solidFill>
                  <a:srgbClr val="FF0000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是哲學，本形學將</a:t>
            </a:r>
            <a:r>
              <a:rPr lang="zh-TW" altLang="en-US" sz="2000" kern="1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「</a:t>
            </a:r>
            <a:r>
              <a:rPr lang="zh-TW" altLang="zh-TW" sz="2000" kern="1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形</a:t>
            </a:r>
            <a:r>
              <a:rPr lang="zh-TW" altLang="en-US" sz="2000" kern="1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」</a:t>
            </a:r>
            <a:r>
              <a:rPr lang="zh-TW" altLang="zh-TW" sz="2000" kern="1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zh-TW" sz="2000" kern="100" dirty="0">
                <a:solidFill>
                  <a:srgbClr val="FF0000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看清楚轉成顯學</a:t>
            </a:r>
            <a:r>
              <a:rPr lang="en-US" altLang="zh-TW" sz="2000" kern="100" dirty="0">
                <a:solidFill>
                  <a:srgbClr val="FF0000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zh-TW" sz="2000" kern="100" dirty="0">
                <a:solidFill>
                  <a:srgbClr val="FF0000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科學</a:t>
            </a:r>
            <a:r>
              <a:rPr lang="en-US" altLang="zh-TW" sz="2000" kern="100" dirty="0">
                <a:solidFill>
                  <a:srgbClr val="FF0000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) </a:t>
            </a:r>
            <a:r>
              <a:rPr lang="zh-TW" altLang="zh-TW" sz="2000" kern="1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000" kern="1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並實踐化 </a:t>
            </a:r>
            <a:r>
              <a:rPr lang="en-US" altLang="zh-TW" sz="2000" kern="1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Mind AI</a:t>
            </a:r>
            <a:r>
              <a:rPr lang="zh-TW" altLang="en-US" sz="2000" kern="1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。</a:t>
            </a:r>
            <a:endParaRPr lang="en-US" altLang="zh-TW" sz="2000" kern="100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83995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AD6511-C57E-1D29-A2AC-11E2F48C1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F664717-4840-DE0C-3576-440462D56675}"/>
              </a:ext>
            </a:extLst>
          </p:cNvPr>
          <p:cNvSpPr/>
          <p:nvPr/>
        </p:nvSpPr>
        <p:spPr>
          <a:xfrm>
            <a:off x="10771632" y="-502920"/>
            <a:ext cx="1920240" cy="1920240"/>
          </a:xfrm>
          <a:prstGeom prst="ellipse">
            <a:avLst/>
          </a:prstGeom>
          <a:solidFill>
            <a:srgbClr val="E9F0FC"/>
          </a:solidFill>
          <a:ln/>
        </p:spPr>
        <p:txBody>
          <a:bodyPr/>
          <a:lstStyle/>
          <a:p>
            <a:endParaRPr lang="zh-TW" altLang="en-US">
              <a:ea typeface="微軟正黑體" panose="020B0604030504040204" pitchFamily="34" charset="-120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07A1D34-1B2B-1273-CD59-317C8DF1A6AE}"/>
              </a:ext>
            </a:extLst>
          </p:cNvPr>
          <p:cNvSpPr/>
          <p:nvPr/>
        </p:nvSpPr>
        <p:spPr>
          <a:xfrm>
            <a:off x="11228832" y="-45720"/>
            <a:ext cx="1005840" cy="1005840"/>
          </a:xfrm>
          <a:prstGeom prst="ellipse">
            <a:avLst/>
          </a:prstGeom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TW" altLang="en-US">
              <a:ea typeface="微軟正黑體" panose="020B0604030504040204" pitchFamily="34" charset="-12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15F8395-CDF6-9ECD-50CE-F53FD2EB829F}"/>
              </a:ext>
            </a:extLst>
          </p:cNvPr>
          <p:cNvSpPr/>
          <p:nvPr/>
        </p:nvSpPr>
        <p:spPr>
          <a:xfrm>
            <a:off x="548640" y="7772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TW" altLang="en-US" sz="3200" b="1">
                <a:solidFill>
                  <a:srgbClr val="1E276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mbria" pitchFamily="34" charset="-120"/>
              </a:rPr>
              <a:t>李飛飛：數字寒武紀的爆發</a:t>
            </a:r>
          </a:p>
          <a:p>
            <a:pPr marL="0" indent="0">
              <a:buNone/>
            </a:pPr>
            <a:endParaRPr lang="en-US" sz="3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5127671-4090-C8CE-BA35-3C43FF7B0FAA}"/>
              </a:ext>
            </a:extLst>
          </p:cNvPr>
          <p:cNvSpPr/>
          <p:nvPr/>
        </p:nvSpPr>
        <p:spPr>
          <a:xfrm>
            <a:off x="4663440" y="2286000"/>
            <a:ext cx="6949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endParaRPr lang="en-US" sz="1700" dirty="0">
              <a:ea typeface="微軟正黑體" panose="020B0604030504040204" pitchFamily="34" charset="-12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2A88FB47-C8FD-3AEF-5D47-91FC71D70B70}"/>
              </a:ext>
            </a:extLst>
          </p:cNvPr>
          <p:cNvSpPr txBox="1"/>
          <p:nvPr/>
        </p:nvSpPr>
        <p:spPr>
          <a:xfrm>
            <a:off x="718457" y="2622750"/>
            <a:ext cx="4672149" cy="2289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900"/>
              </a:lnSpc>
            </a:pPr>
            <a:r>
              <a:rPr lang="zh-TW" altLang="en-US">
                <a:ea typeface="微軟正黑體" panose="020B0604030504040204" pitchFamily="34" charset="-120"/>
              </a:rPr>
              <a:t>李飛飛：數字寒武紀的爆發</a:t>
            </a:r>
          </a:p>
          <a:p>
            <a:pPr>
              <a:lnSpc>
                <a:spcPts val="2900"/>
              </a:lnSpc>
            </a:pPr>
            <a:r>
              <a:rPr lang="zh-TW" altLang="en-US">
                <a:ea typeface="微軟正黑體" panose="020B0604030504040204" pitchFamily="34" charset="-120"/>
              </a:rPr>
              <a:t>她講到在遙遠的寒武紀時代，一切都是漆黑的，有一種三葉蟲的生物首先感知到光，感知到光以後發展出了神經系統，接下來就是</a:t>
            </a:r>
            <a:r>
              <a:rPr lang="zh-TW" altLang="en-US">
                <a:latin typeface="Poiret One" panose="020F0502020204030204" pitchFamily="2" charset="0"/>
                <a:ea typeface="微軟正黑體" panose="020B0604030504040204" pitchFamily="34" charset="-120"/>
              </a:rPr>
              <a:t>「</a:t>
            </a:r>
            <a:r>
              <a:rPr lang="zh-TW" altLang="en-US" b="1" dirty="0">
                <a:solidFill>
                  <a:srgbClr val="FF0000"/>
                </a:solidFill>
                <a:ea typeface="微軟正黑體" panose="020B0604030504040204" pitchFamily="34" charset="-120"/>
              </a:rPr>
              <a:t>理解</a:t>
            </a:r>
            <a:r>
              <a:rPr lang="zh-TW" altLang="en-US" b="1">
                <a:solidFill>
                  <a:srgbClr val="FF0000"/>
                </a:solidFill>
                <a:ea typeface="微軟正黑體" panose="020B0604030504040204" pitchFamily="34" charset="-120"/>
              </a:rPr>
              <a:t>思考</a:t>
            </a:r>
            <a:r>
              <a:rPr lang="zh-TW" altLang="en-US">
                <a:latin typeface="Poiret One" panose="00000500000000000000" pitchFamily="2" charset="0"/>
                <a:ea typeface="微軟正黑體" panose="020B0604030504040204" pitchFamily="34" charset="-120"/>
              </a:rPr>
              <a:t>」</a:t>
            </a:r>
            <a:r>
              <a:rPr lang="zh-TW" altLang="en-US">
                <a:ea typeface="微軟正黑體" panose="020B0604030504040204" pitchFamily="34" charset="-120"/>
              </a:rPr>
              <a:t>最後執行。這就是生物發展的規律。</a:t>
            </a:r>
            <a:endParaRPr lang="zh-TW" altLang="en-US" dirty="0">
              <a:ea typeface="微軟正黑體" panose="020B0604030504040204" pitchFamily="34" charset="-120"/>
            </a:endParaRPr>
          </a:p>
        </p:txBody>
      </p:sp>
      <p:graphicFrame>
        <p:nvGraphicFramePr>
          <p:cNvPr id="15" name="資料庫圖表 14">
            <a:extLst>
              <a:ext uri="{FF2B5EF4-FFF2-40B4-BE49-F238E27FC236}">
                <a16:creationId xmlns:a16="http://schemas.microsoft.com/office/drawing/2014/main" id="{AF30C4AD-E7CE-872A-0E42-E757FAA2A19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2910603"/>
              </p:ext>
            </p:extLst>
          </p:nvPr>
        </p:nvGraphicFramePr>
        <p:xfrm>
          <a:off x="5860870" y="1022774"/>
          <a:ext cx="5939244" cy="54041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52646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1005840"/>
            <a:ext cx="4206240" cy="4206240"/>
          </a:xfrm>
          <a:prstGeom prst="ellipse">
            <a:avLst/>
          </a:prstGeom>
          <a:solidFill>
            <a:srgbClr val="1E2761"/>
          </a:solidFill>
          <a:ln w="19050">
            <a:solidFill>
              <a:srgbClr val="2E3878"/>
            </a:solidFill>
            <a:prstDash val="solid"/>
          </a:ln>
        </p:spPr>
        <p:txBody>
          <a:bodyPr/>
          <a:lstStyle/>
          <a:p>
            <a:endParaRPr lang="zh-TW" altLang="en-US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8549640" y="1600200"/>
            <a:ext cx="3017520" cy="3017520"/>
          </a:xfrm>
          <a:prstGeom prst="ellipse">
            <a:avLst/>
          </a:prstGeom>
          <a:solidFill>
            <a:srgbClr val="1E2761"/>
          </a:solidFill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zh-TW" altLang="en-US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189720" y="2240280"/>
            <a:ext cx="1371600" cy="1371600"/>
          </a:xfrm>
          <a:prstGeom prst="ellipse">
            <a:avLst/>
          </a:prstGeom>
          <a:solidFill>
            <a:srgbClr val="C9982E"/>
          </a:solidFill>
          <a:ln/>
        </p:spPr>
        <p:txBody>
          <a:bodyPr/>
          <a:lstStyle/>
          <a:p>
            <a:endParaRPr lang="zh-TW" altLang="en-US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732520" y="3246120"/>
            <a:ext cx="777240" cy="77724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zh-TW" altLang="en-US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195560" y="2880360"/>
            <a:ext cx="594360" cy="59436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zh-TW" altLang="en-US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6800" b="1">
                <a:solidFill>
                  <a:srgbClr val="1E276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Cambria" pitchFamily="34" charset="-120"/>
              </a:rPr>
              <a:t>形與數</a:t>
            </a:r>
            <a:r>
              <a:rPr lang="zh-TW" altLang="en-US" sz="6800" b="1">
                <a:solidFill>
                  <a:srgbClr val="1E276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Cambria" pitchFamily="34" charset="-120"/>
              </a:rPr>
              <a:t>  </a:t>
            </a:r>
            <a:r>
              <a:rPr lang="zh-TW" altLang="en-US" sz="6800" b="1" dirty="0">
                <a:solidFill>
                  <a:srgbClr val="1E276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Cambria" pitchFamily="34" charset="-120"/>
              </a:rPr>
              <a:t>篇</a:t>
            </a:r>
            <a:endParaRPr lang="en-US" sz="6800" dirty="0">
              <a:solidFill>
                <a:srgbClr val="1E2761"/>
              </a:solidFill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44583" y="5231675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>
                <a:solidFill>
                  <a:schemeClr val="accent2">
                    <a:lumMod val="75000"/>
                  </a:schemeClr>
                </a:solidFill>
                <a:latin typeface="HGMinchoE" panose="02020809000000000000" pitchFamily="49" charset="-128"/>
                <a:ea typeface="HGMinchoE" panose="02020809000000000000" pitchFamily="49" charset="-128"/>
                <a:cs typeface="Calibri" pitchFamily="34" charset="-120"/>
              </a:rPr>
              <a:t>從一維世界的一顆感應器，推導「形」與「數」的誕生順序</a:t>
            </a:r>
            <a:endParaRPr lang="en-US" sz="2000" dirty="0">
              <a:solidFill>
                <a:schemeClr val="accent2">
                  <a:lumMod val="75000"/>
                </a:schemeClr>
              </a:solidFill>
              <a:latin typeface="HGMinchoE" panose="02020809000000000000" pitchFamily="49" charset="-128"/>
              <a:ea typeface="HGMinchoE" panose="02020809000000000000" pitchFamily="49" charset="-128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44583" y="5995851"/>
            <a:ext cx="6013268" cy="0"/>
          </a:xfrm>
          <a:prstGeom prst="line">
            <a:avLst/>
          </a:prstGeom>
          <a:noFill/>
          <a:ln w="25400">
            <a:solidFill>
              <a:srgbClr val="C9982E"/>
            </a:solidFill>
            <a:prstDash val="solid"/>
          </a:ln>
        </p:spPr>
        <p:txBody>
          <a:bodyPr/>
          <a:lstStyle/>
          <a:p>
            <a:endParaRPr lang="zh-TW" altLang="en-US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44583" y="3583577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>
                <a:solidFill>
                  <a:srgbClr val="1E2761"/>
                </a:solidFill>
                <a:latin typeface="HGMinchoE" panose="02020809000000000000" pitchFamily="49" charset="-128"/>
                <a:ea typeface="HGMinchoE" panose="02020809000000000000" pitchFamily="49" charset="-128"/>
                <a:cs typeface="Calibri" pitchFamily="34" charset="-120"/>
              </a:rPr>
              <a:t>先有形，才有數。</a:t>
            </a:r>
            <a:endParaRPr lang="en-US" sz="3600" dirty="0">
              <a:solidFill>
                <a:srgbClr val="1E2761"/>
              </a:solidFill>
              <a:latin typeface="HGMinchoE" panose="02020809000000000000" pitchFamily="49" charset="-128"/>
              <a:ea typeface="HGMinchoE" panose="02020809000000000000" pitchFamily="49" charset="-128"/>
            </a:endParaRPr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6B17FEC7-D44B-DD59-7424-D6F185F3338B}"/>
              </a:ext>
            </a:extLst>
          </p:cNvPr>
          <p:cNvSpPr/>
          <p:nvPr/>
        </p:nvSpPr>
        <p:spPr>
          <a:xfrm>
            <a:off x="744583" y="63354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kern="0" spc="300">
                <a:solidFill>
                  <a:srgbClr val="1E276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Calibri" pitchFamily="34" charset="-120"/>
              </a:rPr>
              <a:t>本形學　</a:t>
            </a:r>
            <a:r>
              <a:rPr lang="en-US" sz="4800" b="1" kern="0" spc="300" dirty="0" err="1">
                <a:solidFill>
                  <a:srgbClr val="1E276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Calibri" pitchFamily="34" charset="-120"/>
              </a:rPr>
              <a:t>Ontypology</a:t>
            </a:r>
            <a:endParaRPr lang="en-US" sz="4800" b="1" dirty="0">
              <a:solidFill>
                <a:srgbClr val="1E2761"/>
              </a:solidFill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1632" y="-502920"/>
            <a:ext cx="1920240" cy="1920240"/>
          </a:xfrm>
          <a:prstGeom prst="ellipse">
            <a:avLst/>
          </a:prstGeom>
          <a:solidFill>
            <a:srgbClr val="E9F0FC"/>
          </a:solidFill>
          <a:ln/>
        </p:spPr>
        <p:txBody>
          <a:bodyPr/>
          <a:lstStyle/>
          <a:p>
            <a:endParaRPr lang="zh-TW" altLang="en-US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1228832" y="-45720"/>
            <a:ext cx="1005840" cy="1005840"/>
          </a:xfrm>
          <a:prstGeom prst="ellipse">
            <a:avLst/>
          </a:prstGeom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TW" altLang="en-US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C9982E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Calibri" pitchFamily="34" charset="-120"/>
              </a:rPr>
              <a:t>核心命題</a:t>
            </a:r>
            <a:endParaRPr lang="en-US" sz="1200" dirty="0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1E276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Cambria" pitchFamily="34" charset="-120"/>
              </a:rPr>
              <a:t>兩句話，貫穿整章</a:t>
            </a:r>
            <a:endParaRPr lang="en-US" sz="3200" dirty="0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317236" cy="3840480"/>
          </a:xfrm>
          <a:prstGeom prst="roundRect">
            <a:avLst>
              <a:gd name="adj" fmla="val 2857"/>
            </a:avLst>
          </a:prstGeom>
          <a:solidFill>
            <a:srgbClr val="1E2761"/>
          </a:solidFill>
          <a:ln/>
          <a:effectLst>
            <a:outerShdw blurRad="152400" dist="50800" dir="5400000" algn="bl" rotWithShape="0">
              <a:srgbClr val="1A1A2E">
                <a:alpha val="25000"/>
              </a:srgbClr>
            </a:outerShdw>
          </a:effectLst>
        </p:spPr>
        <p:txBody>
          <a:bodyPr/>
          <a:lstStyle/>
          <a:p>
            <a:endParaRPr lang="zh-TW" altLang="en-US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887218" y="2377440"/>
            <a:ext cx="640080" cy="640080"/>
          </a:xfrm>
          <a:prstGeom prst="ellipse">
            <a:avLst/>
          </a:prstGeom>
          <a:solidFill>
            <a:srgbClr val="C9982E"/>
          </a:solidFill>
          <a:ln/>
        </p:spPr>
        <p:txBody>
          <a:bodyPr/>
          <a:lstStyle/>
          <a:p>
            <a:endParaRPr lang="zh-TW" altLang="en-US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2887218" y="2377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41B4D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Cambria" pitchFamily="34" charset="-120"/>
              </a:rPr>
              <a:t>合</a:t>
            </a:r>
            <a:endParaRPr lang="en-US" sz="2400" dirty="0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914400" y="3246120"/>
            <a:ext cx="45857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Cambria" pitchFamily="34" charset="-120"/>
              </a:rPr>
              <a:t>有合必有形</a:t>
            </a:r>
            <a:endParaRPr lang="en-US" sz="2600" dirty="0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05840" y="3977640"/>
            <a:ext cx="440283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>
                <a:solidFill>
                  <a:srgbClr val="E9F0FC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Calibri" pitchFamily="34" charset="-120"/>
              </a:rPr>
              <a:t>把原本各自獨立的東西圈成同一個整體，這個動作本身就會產生一個新的、更高層次的形。</a:t>
            </a:r>
            <a:endParaRPr lang="en-US" sz="1400" dirty="0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323076" y="1965960"/>
            <a:ext cx="5317236" cy="3840480"/>
          </a:xfrm>
          <a:prstGeom prst="roundRect">
            <a:avLst>
              <a:gd name="adj" fmla="val 2857"/>
            </a:avLst>
          </a:prstGeom>
          <a:solidFill>
            <a:srgbClr val="E9F0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zh-TW" altLang="en-US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661654" y="23774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zh-TW" altLang="en-US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661654" y="2377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Cambria" pitchFamily="34" charset="-120"/>
              </a:rPr>
              <a:t>數</a:t>
            </a:r>
            <a:endParaRPr lang="en-US" sz="2400" dirty="0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643116" y="3246120"/>
            <a:ext cx="46771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1E276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Cambria" pitchFamily="34" charset="-120"/>
              </a:rPr>
              <a:t>數 ＝ 形裡面的小形，次比較</a:t>
            </a:r>
            <a:endParaRPr lang="en-US" sz="2200" dirty="0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780276" y="3977640"/>
            <a:ext cx="440283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>
                <a:solidFill>
                  <a:srgbClr val="2B2E4A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Calibri" pitchFamily="34" charset="-120"/>
              </a:rPr>
              <a:t>在同一個形之下，去計算它的子形出現了幾次——數，永遠依附在已被辨識出來的形之上。</a:t>
            </a:r>
            <a:endParaRPr lang="en-US" sz="1400" dirty="0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1632" y="-502920"/>
            <a:ext cx="1920240" cy="1920240"/>
          </a:xfrm>
          <a:prstGeom prst="ellipse">
            <a:avLst/>
          </a:prstGeom>
          <a:solidFill>
            <a:srgbClr val="E9F0FC"/>
          </a:solidFill>
          <a:ln/>
        </p:spPr>
        <p:txBody>
          <a:bodyPr/>
          <a:lstStyle/>
          <a:p>
            <a:endParaRPr lang="zh-TW" altLang="en-US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1228832" y="-45720"/>
            <a:ext cx="1005840" cy="1005840"/>
          </a:xfrm>
          <a:prstGeom prst="ellipse">
            <a:avLst/>
          </a:prstGeom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TW" altLang="en-US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C9982E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Calibri" pitchFamily="34" charset="-120"/>
              </a:rPr>
              <a:t>空間形的起點</a:t>
            </a:r>
            <a:endParaRPr lang="en-US" sz="1200" dirty="0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1E276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Cambria" pitchFamily="34" charset="-120"/>
              </a:rPr>
              <a:t>內外分合，就是最基本的形</a:t>
            </a:r>
            <a:endParaRPr lang="en-US" sz="3200" dirty="0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914400" y="2011680"/>
            <a:ext cx="3291840" cy="3291840"/>
          </a:xfrm>
          <a:prstGeom prst="ellipse">
            <a:avLst/>
          </a:prstGeom>
          <a:solidFill>
            <a:srgbClr val="E9F0FC"/>
          </a:solidFill>
          <a:ln w="317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TW" altLang="en-US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14400" y="2011680"/>
            <a:ext cx="32918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1E276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Cambria" pitchFamily="34" charset="-120"/>
              </a:rPr>
              <a:t>內</a:t>
            </a:r>
            <a:endParaRPr lang="en-US" sz="2600" dirty="0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232954" y="1554413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982E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Cambria" pitchFamily="34" charset="-120"/>
              </a:rPr>
              <a:t>外</a:t>
            </a:r>
            <a:endParaRPr lang="en-US" sz="1800" dirty="0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79120" y="1883229"/>
            <a:ext cx="822960" cy="502920"/>
          </a:xfrm>
          <a:prstGeom prst="line">
            <a:avLst/>
          </a:prstGeom>
          <a:noFill/>
          <a:ln w="19050">
            <a:solidFill>
              <a:srgbClr val="C9982E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663440" y="2286000"/>
            <a:ext cx="6949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700" b="1">
                <a:solidFill>
                  <a:srgbClr val="1E276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Calibri" pitchFamily="34" charset="-120"/>
              </a:rPr>
              <a:t>一個圓，內外分合，</a:t>
            </a:r>
            <a:r>
              <a:rPr lang="en-US" sz="1700">
                <a:solidFill>
                  <a:srgbClr val="2B2E4A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Calibri" pitchFamily="34" charset="-120"/>
              </a:rPr>
              <a:t>它就是一個基本形——它存在、有邊界、可以被辨識出「這是一個東西（一體）」。</a:t>
            </a:r>
            <a:endParaRPr lang="en-US" sz="1700" dirty="0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983480" y="4526280"/>
            <a:ext cx="6309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E276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Cambria" pitchFamily="34" charset="-120"/>
              </a:rPr>
              <a:t>內外分合　·　群組分合　·　實體分合　·　基本單位</a:t>
            </a:r>
            <a:endParaRPr lang="en-US" sz="2000" dirty="0">
              <a:solidFill>
                <a:srgbClr val="1E2761"/>
              </a:solidFill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1632" y="-502920"/>
            <a:ext cx="1920240" cy="1920240"/>
          </a:xfrm>
          <a:prstGeom prst="ellipse">
            <a:avLst/>
          </a:prstGeom>
          <a:solidFill>
            <a:srgbClr val="E9F0FC"/>
          </a:solidFill>
          <a:ln/>
        </p:spPr>
        <p:txBody>
          <a:bodyPr/>
          <a:lstStyle/>
          <a:p>
            <a:endParaRPr lang="zh-TW" altLang="en-US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1228832" y="-45720"/>
            <a:ext cx="1005840" cy="1005840"/>
          </a:xfrm>
          <a:prstGeom prst="ellipse">
            <a:avLst/>
          </a:prstGeom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TW" altLang="en-US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C9982E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Calibri" pitchFamily="34" charset="-120"/>
              </a:rPr>
              <a:t>思想實驗</a:t>
            </a:r>
            <a:endParaRPr lang="en-US" sz="1200" dirty="0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1E276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Cambria" pitchFamily="34" charset="-120"/>
              </a:rPr>
              <a:t>一維世界裡的一顆感應器</a:t>
            </a:r>
            <a:endParaRPr lang="en-US" sz="3200" dirty="0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2B2E4A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Calibri" pitchFamily="34" charset="-120"/>
              </a:rPr>
              <a:t>假設有一個只有一維的世界，裡面只有一個感應器——它每秒感覺一次顏色，沒有其他功能。</a:t>
            </a:r>
            <a:endParaRPr lang="en-US" sz="1500" dirty="0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" y="2240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C9982E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Calibri" pitchFamily="34" charset="-120"/>
              </a:rPr>
              <a:t>情境 A　永遠是同一個顏色</a:t>
            </a:r>
            <a:endParaRPr lang="en-US" sz="1300" dirty="0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14400" y="2743200"/>
            <a:ext cx="1371600" cy="1005840"/>
          </a:xfrm>
          <a:prstGeom prst="roundRect">
            <a:avLst>
              <a:gd name="adj" fmla="val 7273"/>
            </a:avLst>
          </a:prstGeom>
          <a:solidFill>
            <a:srgbClr val="141B4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606040" y="2743200"/>
            <a:ext cx="1371600" cy="1005840"/>
          </a:xfrm>
          <a:prstGeom prst="roundRect">
            <a:avLst>
              <a:gd name="adj" fmla="val 7273"/>
            </a:avLst>
          </a:prstGeom>
          <a:solidFill>
            <a:srgbClr val="141B4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297680" y="2743200"/>
            <a:ext cx="1371600" cy="1005840"/>
          </a:xfrm>
          <a:prstGeom prst="roundRect">
            <a:avLst>
              <a:gd name="adj" fmla="val 7273"/>
            </a:avLst>
          </a:prstGeom>
          <a:solidFill>
            <a:srgbClr val="141B4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989320" y="2743200"/>
            <a:ext cx="1371600" cy="1005840"/>
          </a:xfrm>
          <a:prstGeom prst="roundRect">
            <a:avLst>
              <a:gd name="adj" fmla="val 7273"/>
            </a:avLst>
          </a:prstGeom>
          <a:solidFill>
            <a:srgbClr val="141B4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680960" y="2743200"/>
            <a:ext cx="1371600" cy="1005840"/>
          </a:xfrm>
          <a:prstGeom prst="roundRect">
            <a:avLst>
              <a:gd name="adj" fmla="val 7273"/>
            </a:avLst>
          </a:prstGeom>
          <a:solidFill>
            <a:srgbClr val="141B4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14400" y="38862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E2761"/>
                </a:solidFill>
                <a:latin typeface="HGMinchoE" panose="02020809000000000000" pitchFamily="49" charset="-128"/>
                <a:ea typeface="HGMinchoE" panose="02020809000000000000" pitchFamily="49" charset="-128"/>
                <a:cs typeface="Calibri" pitchFamily="34" charset="-120"/>
              </a:rPr>
              <a:t>沒有差異 → 沒有空間、沒有時間、沒有形</a:t>
            </a:r>
            <a:endParaRPr lang="en-US" sz="1300" dirty="0">
              <a:solidFill>
                <a:srgbClr val="1E2761"/>
              </a:solidFill>
              <a:latin typeface="HGMinchoE" panose="02020809000000000000" pitchFamily="49" charset="-128"/>
              <a:ea typeface="HGMinchoE" panose="02020809000000000000" pitchFamily="49" charset="-128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48640" y="4389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C9982E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Calibri" pitchFamily="34" charset="-120"/>
              </a:rPr>
              <a:t>情境 B　顏色開始交替</a:t>
            </a:r>
            <a:endParaRPr lang="en-US" sz="1300" dirty="0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914400" y="4892040"/>
            <a:ext cx="1371600" cy="1005840"/>
          </a:xfrm>
          <a:prstGeom prst="roundRect">
            <a:avLst>
              <a:gd name="adj" fmla="val 7273"/>
            </a:avLst>
          </a:prstGeom>
          <a:solidFill>
            <a:srgbClr val="141B4D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TW" altLang="en-US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606040" y="4892040"/>
            <a:ext cx="1371600" cy="1005840"/>
          </a:xfrm>
          <a:prstGeom prst="roundRect">
            <a:avLst>
              <a:gd name="adj" fmla="val 7273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TW" altLang="en-US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297680" y="4892040"/>
            <a:ext cx="1371600" cy="1005840"/>
          </a:xfrm>
          <a:prstGeom prst="roundRect">
            <a:avLst>
              <a:gd name="adj" fmla="val 7273"/>
            </a:avLst>
          </a:prstGeom>
          <a:solidFill>
            <a:srgbClr val="141B4D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TW" altLang="en-US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989320" y="4892040"/>
            <a:ext cx="1371600" cy="1005840"/>
          </a:xfrm>
          <a:prstGeom prst="roundRect">
            <a:avLst>
              <a:gd name="adj" fmla="val 7273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TW" altLang="en-US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680960" y="4892040"/>
            <a:ext cx="1371600" cy="1005840"/>
          </a:xfrm>
          <a:prstGeom prst="roundRect">
            <a:avLst>
              <a:gd name="adj" fmla="val 7273"/>
            </a:avLst>
          </a:prstGeom>
          <a:solidFill>
            <a:srgbClr val="141B4D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TW" altLang="en-US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14400" y="60350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E2761"/>
                </a:solidFill>
                <a:latin typeface="HGMinchoE" panose="02020809000000000000" pitchFamily="49" charset="-128"/>
                <a:ea typeface="HGMinchoE" panose="02020809000000000000" pitchFamily="49" charset="-128"/>
                <a:cs typeface="Calibri" pitchFamily="34" charset="-120"/>
              </a:rPr>
              <a:t>差異出現 → 空間、時間、</a:t>
            </a:r>
            <a:r>
              <a:rPr lang="zh-TW" altLang="en-US" sz="1300" dirty="0">
                <a:solidFill>
                  <a:srgbClr val="1E2761"/>
                </a:solidFill>
                <a:latin typeface="HGMinchoE" panose="02020809000000000000" pitchFamily="49" charset="-128"/>
                <a:ea typeface="HGMinchoE" panose="02020809000000000000" pitchFamily="49" charset="-128"/>
                <a:cs typeface="Calibri" pitchFamily="34" charset="-120"/>
              </a:rPr>
              <a:t>模式</a:t>
            </a:r>
            <a:r>
              <a:rPr lang="en-US" altLang="zh-TW" sz="1300" dirty="0">
                <a:solidFill>
                  <a:srgbClr val="1E2761"/>
                </a:solidFill>
                <a:latin typeface="HGMinchoE" panose="02020809000000000000" pitchFamily="49" charset="-128"/>
                <a:ea typeface="HGMinchoE" panose="02020809000000000000" pitchFamily="49" charset="-128"/>
                <a:cs typeface="Calibri" pitchFamily="34" charset="-120"/>
              </a:rPr>
              <a:t>(</a:t>
            </a:r>
            <a:r>
              <a:rPr lang="en-US" sz="1300">
                <a:solidFill>
                  <a:srgbClr val="1E2761"/>
                </a:solidFill>
                <a:latin typeface="HGMinchoE" panose="02020809000000000000" pitchFamily="49" charset="-128"/>
                <a:ea typeface="HGMinchoE" panose="02020809000000000000" pitchFamily="49" charset="-128"/>
                <a:cs typeface="Calibri" pitchFamily="34" charset="-120"/>
              </a:rPr>
              <a:t>Pattern</a:t>
            </a:r>
            <a:r>
              <a:rPr lang="en-US" altLang="zh-TW" sz="1300">
                <a:solidFill>
                  <a:srgbClr val="1E2761"/>
                </a:solidFill>
                <a:latin typeface="HGMinchoE" panose="02020809000000000000" pitchFamily="49" charset="-128"/>
                <a:ea typeface="HGMinchoE" panose="02020809000000000000" pitchFamily="49" charset="-128"/>
                <a:cs typeface="Calibri" pitchFamily="34" charset="-120"/>
              </a:rPr>
              <a:t>)</a:t>
            </a:r>
            <a:r>
              <a:rPr lang="en-US" sz="1300">
                <a:solidFill>
                  <a:srgbClr val="1E2761"/>
                </a:solidFill>
                <a:latin typeface="HGMinchoE" panose="02020809000000000000" pitchFamily="49" charset="-128"/>
                <a:ea typeface="HGMinchoE" panose="02020809000000000000" pitchFamily="49" charset="-128"/>
                <a:cs typeface="Calibri" pitchFamily="34" charset="-120"/>
              </a:rPr>
              <a:t> 同時誕生</a:t>
            </a:r>
            <a:endParaRPr lang="en-US" sz="1300" dirty="0">
              <a:latin typeface="HGMinchoE" panose="02020809000000000000" pitchFamily="49" charset="-128"/>
              <a:ea typeface="HGMinchoE" panose="02020809000000000000" pitchFamily="49" charset="-12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1632" y="-502920"/>
            <a:ext cx="1920240" cy="19202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zh-TW" altLang="en-US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1228832" y="-45720"/>
            <a:ext cx="1005840" cy="1005840"/>
          </a:xfrm>
          <a:prstGeom prst="ellipse">
            <a:avLst/>
          </a:prstGeom>
          <a:ln w="1587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zh-TW" altLang="en-US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D2A953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Calibri" pitchFamily="34" charset="-120"/>
              </a:rPr>
              <a:t>形的誕生</a:t>
            </a:r>
            <a:endParaRPr lang="en-US" sz="1200" dirty="0">
              <a:solidFill>
                <a:srgbClr val="D2A953"/>
              </a:solidFill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1E276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Cambria" pitchFamily="34" charset="-120"/>
              </a:rPr>
              <a:t>異／同的判斷，就是第一個「形」</a:t>
            </a:r>
            <a:endParaRPr lang="en-US" sz="3200" dirty="0">
              <a:solidFill>
                <a:srgbClr val="1E2761"/>
              </a:solidFill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31520" y="2989806"/>
            <a:ext cx="1554480" cy="1188720"/>
          </a:xfrm>
          <a:prstGeom prst="roundRect">
            <a:avLst>
              <a:gd name="adj" fmla="val 7692"/>
            </a:avLst>
          </a:prstGeom>
          <a:solidFill>
            <a:schemeClr val="tx1"/>
          </a:solidFill>
          <a:ln w="1587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zh-TW" altLang="en-US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31520" y="2989806"/>
            <a:ext cx="1554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Cambria" pitchFamily="34" charset="-120"/>
              </a:rPr>
              <a:t>黑</a:t>
            </a:r>
            <a:endParaRPr lang="en-US" sz="2000" dirty="0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425167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Calibri" pitchFamily="34" charset="-120"/>
              </a:rPr>
              <a:t>t1</a:t>
            </a:r>
            <a:endParaRPr lang="en-US" sz="1100" dirty="0">
              <a:solidFill>
                <a:srgbClr val="1E2761"/>
              </a:solidFill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286000" y="2989806"/>
            <a:ext cx="320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982E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Cambria" pitchFamily="34" charset="-120"/>
              </a:rPr>
              <a:t>≠</a:t>
            </a:r>
            <a:endParaRPr lang="en-US" sz="2200" dirty="0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606040" y="2989806"/>
            <a:ext cx="15544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zh-TW" altLang="en-US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606040" y="2989806"/>
            <a:ext cx="1554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Cambria" pitchFamily="34" charset="-120"/>
              </a:rPr>
              <a:t>白</a:t>
            </a:r>
            <a:endParaRPr lang="en-US" sz="2000" dirty="0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606040" y="425167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Calibri" pitchFamily="34" charset="-120"/>
              </a:rPr>
              <a:t>t2</a:t>
            </a:r>
            <a:endParaRPr lang="en-US" sz="1100" dirty="0">
              <a:solidFill>
                <a:srgbClr val="1E2761"/>
              </a:solidFill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160520" y="2989806"/>
            <a:ext cx="320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982E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Cambria" pitchFamily="34" charset="-120"/>
              </a:rPr>
              <a:t>≠</a:t>
            </a:r>
            <a:endParaRPr lang="en-US" sz="2200" dirty="0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480560" y="2989806"/>
            <a:ext cx="1554480" cy="1188720"/>
          </a:xfrm>
          <a:prstGeom prst="roundRect">
            <a:avLst>
              <a:gd name="adj" fmla="val 7692"/>
            </a:avLst>
          </a:prstGeom>
          <a:solidFill>
            <a:schemeClr val="tx1"/>
          </a:solidFill>
          <a:ln w="1587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zh-TW" altLang="en-US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480560" y="2989806"/>
            <a:ext cx="1554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Cambria" pitchFamily="34" charset="-120"/>
              </a:rPr>
              <a:t>黑</a:t>
            </a:r>
            <a:endParaRPr lang="en-US" sz="2000" dirty="0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480560" y="425167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Calibri" pitchFamily="34" charset="-120"/>
              </a:rPr>
              <a:t>t3</a:t>
            </a:r>
            <a:endParaRPr lang="en-US" sz="1100" dirty="0">
              <a:solidFill>
                <a:srgbClr val="1E2761"/>
              </a:solidFill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675120" y="1965960"/>
            <a:ext cx="4937760" cy="3657600"/>
          </a:xfrm>
          <a:prstGeom prst="roundRect">
            <a:avLst>
              <a:gd name="adj" fmla="val 3000"/>
            </a:avLst>
          </a:prstGeom>
          <a:solidFill>
            <a:srgbClr val="232C63"/>
          </a:solidFill>
          <a:ln w="12700">
            <a:solidFill>
              <a:srgbClr val="3A4590"/>
            </a:solidFill>
            <a:prstDash val="solid"/>
          </a:ln>
        </p:spPr>
        <p:txBody>
          <a:bodyPr/>
          <a:lstStyle/>
          <a:p>
            <a:endParaRPr lang="zh-TW" altLang="en-US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040880" y="21945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1DFB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Calibri" pitchFamily="34" charset="-120"/>
              </a:rPr>
              <a:t>最原初的辨識動作</a:t>
            </a:r>
            <a:endParaRPr lang="en-US" sz="1300" dirty="0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040880" y="260604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35000"/>
              </a:lnSpc>
            </a:pPr>
            <a:r>
              <a:rPr lang="zh-TW" altLang="en-US" sz="1400" b="1">
                <a:solidFill>
                  <a:srgbClr val="FFFFFF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Calibri" pitchFamily="34" charset="-120"/>
              </a:rPr>
              <a:t>第一個「</a:t>
            </a:r>
            <a:r>
              <a:rPr lang="en-US" sz="1400" b="1">
                <a:solidFill>
                  <a:srgbClr val="FFFFFF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Calibri" pitchFamily="34" charset="-120"/>
              </a:rPr>
              <a:t>形</a:t>
            </a:r>
            <a:r>
              <a:rPr lang="en-US" altLang="zh-TW" sz="1400" b="1">
                <a:solidFill>
                  <a:srgbClr val="FFFFFF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Cambria" pitchFamily="34" charset="-120"/>
              </a:rPr>
              <a:t> 」 </a:t>
            </a:r>
            <a:r>
              <a:rPr lang="en-US" sz="1400" b="1">
                <a:solidFill>
                  <a:srgbClr val="FFFFFF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Calibri" pitchFamily="34" charset="-120"/>
              </a:rPr>
              <a:t>，本質上是一個布林值：</a:t>
            </a:r>
            <a:r>
              <a:rPr lang="en-US" sz="1400">
                <a:solidFill>
                  <a:srgbClr val="CADCFC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Calibri" pitchFamily="34" charset="-120"/>
              </a:rPr>
              <a:t>「有」或「無」、「是」或「不是」、「異」或「同」。</a:t>
            </a:r>
            <a:endParaRPr lang="en-US" sz="1400" dirty="0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040880" y="3749040"/>
            <a:ext cx="4206240" cy="0"/>
          </a:xfrm>
          <a:prstGeom prst="line">
            <a:avLst/>
          </a:prstGeom>
          <a:noFill/>
          <a:ln w="12700">
            <a:solidFill>
              <a:srgbClr val="3A4590"/>
            </a:solidFill>
            <a:prstDash val="solid"/>
          </a:ln>
        </p:spPr>
        <p:txBody>
          <a:bodyPr/>
          <a:lstStyle/>
          <a:p>
            <a:endParaRPr lang="zh-TW" altLang="en-US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040880" y="3931920"/>
            <a:ext cx="4206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>
                <a:solidFill>
                  <a:srgbClr val="E9F0FC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Calibri" pitchFamily="34" charset="-120"/>
              </a:rPr>
              <a:t>它還沒有涉及「數量」或「多少」——只是辨識出「這是一個獨立的狀態」。</a:t>
            </a:r>
            <a:endParaRPr lang="en-US" sz="1400" dirty="0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1632" y="-502920"/>
            <a:ext cx="1920240" cy="1920240"/>
          </a:xfrm>
          <a:prstGeom prst="ellipse">
            <a:avLst/>
          </a:prstGeom>
          <a:solidFill>
            <a:srgbClr val="E9F0FC"/>
          </a:solidFill>
          <a:ln/>
        </p:spPr>
        <p:txBody>
          <a:bodyPr/>
          <a:lstStyle/>
          <a:p>
            <a:endParaRPr lang="zh-TW" altLang="en-US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1228832" y="-45720"/>
            <a:ext cx="1005840" cy="1005840"/>
          </a:xfrm>
          <a:prstGeom prst="ellipse">
            <a:avLst/>
          </a:prstGeom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TW" altLang="en-US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C9982E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Calibri" pitchFamily="34" charset="-120"/>
              </a:rPr>
              <a:t>數的誕生</a:t>
            </a:r>
            <a:endParaRPr lang="en-US" sz="1200" dirty="0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1E276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Cambria" pitchFamily="34" charset="-120"/>
              </a:rPr>
              <a:t>白色出現了兩次——但前提是先「合」</a:t>
            </a:r>
            <a:endParaRPr lang="en-US" sz="3200" dirty="0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167128" y="2426216"/>
            <a:ext cx="3438144" cy="1426464"/>
          </a:xfrm>
          <a:prstGeom prst="roundRect">
            <a:avLst>
              <a:gd name="adj" fmla="val 7692"/>
            </a:avLst>
          </a:prstGeom>
          <a:ln w="28575">
            <a:solidFill>
              <a:srgbClr val="C9982E"/>
            </a:solidFill>
            <a:prstDash val="dash"/>
          </a:ln>
        </p:spPr>
        <p:txBody>
          <a:bodyPr/>
          <a:lstStyle/>
          <a:p>
            <a:endParaRPr lang="zh-TW" altLang="en-US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331720" y="199644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C9982E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Calibri" pitchFamily="34" charset="-120"/>
              </a:rPr>
              <a:t>先「合」成同一單位</a:t>
            </a:r>
            <a:endParaRPr lang="en-US" sz="1300" dirty="0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40080" y="2590808"/>
            <a:ext cx="1417320" cy="1097280"/>
          </a:xfrm>
          <a:prstGeom prst="roundRect">
            <a:avLst>
              <a:gd name="adj" fmla="val 8333"/>
            </a:avLst>
          </a:prstGeom>
          <a:solidFill>
            <a:schemeClr val="tx1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TW" altLang="en-US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" y="2590808"/>
            <a:ext cx="1417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Cambria" pitchFamily="34" charset="-120"/>
              </a:rPr>
              <a:t>黑</a:t>
            </a:r>
            <a:endParaRPr lang="en-US" sz="1800" dirty="0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331720" y="2590808"/>
            <a:ext cx="1417320" cy="1097280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TW" altLang="en-US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331720" y="2590808"/>
            <a:ext cx="1417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Cambria" pitchFamily="34" charset="-120"/>
              </a:rPr>
              <a:t>白</a:t>
            </a:r>
            <a:endParaRPr lang="en-US" sz="1800" dirty="0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023360" y="2590808"/>
            <a:ext cx="1417320" cy="1097280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TW" altLang="en-US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023360" y="2590808"/>
            <a:ext cx="1417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Cambria" pitchFamily="34" charset="-120"/>
              </a:rPr>
              <a:t>白</a:t>
            </a:r>
            <a:endParaRPr lang="en-US" sz="1800" dirty="0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331720" y="388620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E276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Calibri" pitchFamily="34" charset="-120"/>
              </a:rPr>
              <a:t>再計數 → 2 次</a:t>
            </a:r>
            <a:endParaRPr lang="en-US" sz="1300" dirty="0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48640" y="4883340"/>
            <a:ext cx="11091672" cy="1097280"/>
          </a:xfrm>
          <a:prstGeom prst="roundRect">
            <a:avLst>
              <a:gd name="adj" fmla="val 4651"/>
            </a:avLst>
          </a:prstGeom>
          <a:solidFill>
            <a:srgbClr val="E9F0FC"/>
          </a:solidFill>
          <a:ln/>
        </p:spPr>
        <p:txBody>
          <a:bodyPr/>
          <a:lstStyle/>
          <a:p>
            <a:endParaRPr lang="zh-TW" altLang="en-US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68680" y="5068395"/>
            <a:ext cx="10451592" cy="7228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b="1">
                <a:solidFill>
                  <a:srgbClr val="1E276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Calibri" pitchFamily="34" charset="-120"/>
              </a:rPr>
              <a:t>數，不只是「計次」的動作，</a:t>
            </a:r>
            <a:r>
              <a:rPr lang="en-US" sz="1500">
                <a:solidFill>
                  <a:srgbClr val="2B2E4A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Calibri" pitchFamily="34" charset="-120"/>
              </a:rPr>
              <a:t>它預設了「哪些東西可以被視為同一個單位」——而這個判斷，正是「合」在背後默默做的事。若每次看到的白色都被當成完全不同的東西，就只有「異」，沒有「同」，也就無從計數。</a:t>
            </a:r>
            <a:endParaRPr lang="en-US" sz="1500" dirty="0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1632" y="-502920"/>
            <a:ext cx="1920240" cy="1920240"/>
          </a:xfrm>
          <a:prstGeom prst="ellipse">
            <a:avLst/>
          </a:prstGeom>
          <a:solidFill>
            <a:srgbClr val="E9F0FC"/>
          </a:solidFill>
          <a:ln/>
        </p:spPr>
        <p:txBody>
          <a:bodyPr/>
          <a:lstStyle/>
          <a:p>
            <a:endParaRPr lang="zh-TW" altLang="en-US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1228832" y="-45720"/>
            <a:ext cx="1005840" cy="1005840"/>
          </a:xfrm>
          <a:prstGeom prst="ellipse">
            <a:avLst/>
          </a:prstGeom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TW" altLang="en-US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kern="0" spc="300">
                <a:solidFill>
                  <a:srgbClr val="C9982E"/>
                </a:solidFill>
                <a:latin typeface="HGMinchoE" panose="02020809000000000000" pitchFamily="49" charset="-128"/>
                <a:ea typeface="HGMinchoE" panose="02020809000000000000" pitchFamily="49" charset="-128"/>
                <a:cs typeface="Calibri" pitchFamily="34" charset="-120"/>
              </a:rPr>
              <a:t>定義對比</a:t>
            </a:r>
            <a:endParaRPr lang="en-US" sz="2000" dirty="0">
              <a:latin typeface="HGMinchoE" panose="02020809000000000000" pitchFamily="49" charset="-128"/>
              <a:ea typeface="HGMinchoE" panose="02020809000000000000" pitchFamily="49" charset="-128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1E276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Cambria" pitchFamily="34" charset="-120"/>
              </a:rPr>
              <a:t>形，回答「是什麼」；數，回答「多少」</a:t>
            </a:r>
            <a:endParaRPr lang="en-US" sz="3200" dirty="0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1688411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zh-TW" altLang="en-US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005840" y="2145611"/>
            <a:ext cx="822960" cy="822960"/>
          </a:xfrm>
          <a:prstGeom prst="ellipse">
            <a:avLst/>
          </a:prstGeom>
          <a:ln w="317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zh-TW" altLang="en-US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05840" y="2145611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Cambria" pitchFamily="34" charset="-120"/>
              </a:rPr>
              <a:t>形</a:t>
            </a:r>
            <a:endParaRPr lang="en-US" sz="2200" dirty="0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05840" y="3197171"/>
            <a:ext cx="44028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FFFFFF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Cambria" pitchFamily="34" charset="-120"/>
              </a:rPr>
              <a:t>是什麼／不是什麼</a:t>
            </a:r>
            <a:endParaRPr lang="en-US" sz="1900" dirty="0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05840" y="3745811"/>
            <a:ext cx="440283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b="1">
                <a:solidFill>
                  <a:srgbClr val="F1DFB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Calibri" pitchFamily="34" charset="-120"/>
              </a:rPr>
              <a:t>異同的辨識。</a:t>
            </a:r>
            <a:endParaRPr lang="en-US" sz="1400" dirty="0">
              <a:latin typeface="Times New Roman" panose="02020603050405020304" pitchFamily="18" charset="0"/>
              <a:ea typeface="微軟正黑體" panose="020B0604030504040204" pitchFamily="34" charset="-120"/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en-US" sz="1400">
                <a:solidFill>
                  <a:srgbClr val="E9F0FC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Calibri" pitchFamily="34" charset="-120"/>
              </a:rPr>
              <a:t>沒有形，就無法辨識出「這是一個獨立的狀態」。它是更原初、更底層的認知動作——</a:t>
            </a:r>
            <a:endParaRPr lang="en-US" sz="1400" dirty="0">
              <a:latin typeface="Times New Roman" panose="02020603050405020304" pitchFamily="18" charset="0"/>
              <a:ea typeface="微軟正黑體" panose="020B0604030504040204" pitchFamily="34" charset="-120"/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Calibri" pitchFamily="34" charset="-120"/>
              </a:rPr>
              <a:t>形可以不需要數就存在。</a:t>
            </a:r>
            <a:endParaRPr lang="en-US" sz="1400" dirty="0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323076" y="1688411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E9F0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zh-TW" altLang="en-US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780276" y="2145611"/>
            <a:ext cx="822960" cy="822960"/>
          </a:xfrm>
          <a:prstGeom prst="ellipse">
            <a:avLst/>
          </a:prstGeom>
          <a:ln w="317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TW" altLang="en-US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780276" y="2145611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1E276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Cambria" pitchFamily="34" charset="-120"/>
              </a:rPr>
              <a:t>數</a:t>
            </a:r>
            <a:endParaRPr lang="en-US" sz="2200" dirty="0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780276" y="3197171"/>
            <a:ext cx="44028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1E276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Cambria" pitchFamily="34" charset="-120"/>
              </a:rPr>
              <a:t>多少／幾次</a:t>
            </a:r>
            <a:endParaRPr lang="en-US" sz="1900" dirty="0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780276" y="3745811"/>
            <a:ext cx="440283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b="1">
                <a:solidFill>
                  <a:srgbClr val="C9982E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Calibri" pitchFamily="34" charset="-120"/>
              </a:rPr>
              <a:t>在形之上，進一步的計量。</a:t>
            </a:r>
            <a:endParaRPr lang="en-US" sz="1400" dirty="0">
              <a:latin typeface="Times New Roman" panose="02020603050405020304" pitchFamily="18" charset="0"/>
              <a:ea typeface="微軟正黑體" panose="020B0604030504040204" pitchFamily="34" charset="-120"/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en-US" sz="1400">
                <a:solidFill>
                  <a:srgbClr val="2B2E4A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Calibri" pitchFamily="34" charset="-120"/>
              </a:rPr>
              <a:t>是在已經能辨識形的基礎上，才進一步去計算「這樣的形出現了幾次」——</a:t>
            </a:r>
            <a:endParaRPr lang="en-US" sz="1400" dirty="0">
              <a:latin typeface="Times New Roman" panose="02020603050405020304" pitchFamily="18" charset="0"/>
              <a:ea typeface="微軟正黑體" panose="020B0604030504040204" pitchFamily="34" charset="-120"/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en-US" sz="1400" b="1">
                <a:solidFill>
                  <a:srgbClr val="1E276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Calibri" pitchFamily="34" charset="-120"/>
              </a:rPr>
              <a:t>數不能脫離形而單獨存在。</a:t>
            </a:r>
            <a:endParaRPr lang="en-US" sz="1400" dirty="0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27301E3C-432B-6E97-C359-822B6F3A23C3}"/>
              </a:ext>
            </a:extLst>
          </p:cNvPr>
          <p:cNvSpPr/>
          <p:nvPr/>
        </p:nvSpPr>
        <p:spPr>
          <a:xfrm>
            <a:off x="640080" y="5520115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8A88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A（黑）　B（黑白）　C（白）　——透過異同可判斷彼此不同的形；但問「A 出現幾次」，就從形跨入了數。</a:t>
            </a:r>
            <a:endParaRPr lang="en-US" sz="135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675CF489-3AA0-B070-5E8A-802111C5EA31}"/>
              </a:ext>
            </a:extLst>
          </p:cNvPr>
          <p:cNvSpPr/>
          <p:nvPr/>
        </p:nvSpPr>
        <p:spPr>
          <a:xfrm>
            <a:off x="640080" y="6068755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2325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形是次一層抽象的起點：A、B、C → 更高一層的抽象形 X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1632" y="-502920"/>
            <a:ext cx="1920240" cy="19202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zh-TW" altLang="en-US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1228832" y="-45720"/>
            <a:ext cx="1005840" cy="1005840"/>
          </a:xfrm>
          <a:prstGeom prst="ellipse">
            <a:avLst/>
          </a:prstGeom>
          <a:ln w="1587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zh-TW" altLang="en-US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kern="0" spc="300">
                <a:solidFill>
                  <a:srgbClr val="D2A953"/>
                </a:solidFill>
                <a:latin typeface="HGMinchoE" panose="02020809000000000000" pitchFamily="49" charset="-128"/>
                <a:ea typeface="HGMinchoE" panose="02020809000000000000" pitchFamily="49" charset="-128"/>
                <a:cs typeface="Calibri" pitchFamily="34" charset="-120"/>
              </a:rPr>
              <a:t>合的疊加</a:t>
            </a:r>
            <a:r>
              <a:rPr lang="zh-TW" altLang="en-US" sz="2000" kern="0" spc="300">
                <a:solidFill>
                  <a:srgbClr val="D2A953"/>
                </a:solidFill>
                <a:latin typeface="HGMinchoE" panose="02020809000000000000" pitchFamily="49" charset="-128"/>
                <a:ea typeface="HGMinchoE" panose="02020809000000000000" pitchFamily="49" charset="-128"/>
                <a:cs typeface="Calibri" pitchFamily="34" charset="-120"/>
              </a:rPr>
              <a:t>  </a:t>
            </a:r>
            <a:r>
              <a:rPr lang="en-US" altLang="zh-TW" sz="2000" dirty="0" err="1">
                <a:solidFill>
                  <a:srgbClr val="E63946"/>
                </a:solidFill>
                <a:latin typeface="HGMinchoE" panose="02020809000000000000" pitchFamily="49" charset="-128"/>
                <a:ea typeface="HGMinchoE" panose="02020809000000000000" pitchFamily="49" charset="-128"/>
                <a:cs typeface="Microsoft JhengHei" pitchFamily="34" charset="-120"/>
              </a:rPr>
              <a:t>有合必有形</a:t>
            </a:r>
            <a:r>
              <a:rPr lang="zh-TW" altLang="en-US" sz="2000" kern="0" spc="300" dirty="0">
                <a:solidFill>
                  <a:srgbClr val="D2A953"/>
                </a:solidFill>
                <a:latin typeface="HGMinchoE" panose="02020809000000000000" pitchFamily="49" charset="-128"/>
                <a:ea typeface="HGMinchoE" panose="02020809000000000000" pitchFamily="49" charset="-128"/>
                <a:cs typeface="Calibri" pitchFamily="34" charset="-120"/>
              </a:rPr>
              <a:t> </a:t>
            </a:r>
            <a:endParaRPr lang="en-US" sz="2000" dirty="0">
              <a:solidFill>
                <a:srgbClr val="D2A953"/>
              </a:solidFill>
              <a:latin typeface="HGMinchoE" panose="02020809000000000000" pitchFamily="49" charset="-128"/>
              <a:ea typeface="HGMinchoE" panose="02020809000000000000" pitchFamily="49" charset="-128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1E276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Cambria" pitchFamily="34" charset="-120"/>
              </a:rPr>
              <a:t>三個圓合成一群，就長出新的一層形</a:t>
            </a:r>
            <a:endParaRPr lang="en-US" sz="3200" dirty="0">
              <a:solidFill>
                <a:srgbClr val="1E2761"/>
              </a:solidFill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05840" y="1896297"/>
            <a:ext cx="4206240" cy="4206240"/>
          </a:xfrm>
          <a:prstGeom prst="ellipse">
            <a:avLst/>
          </a:prstGeom>
          <a:ln w="31750">
            <a:solidFill>
              <a:srgbClr val="C9982E"/>
            </a:solidFill>
            <a:prstDash val="dash"/>
          </a:ln>
        </p:spPr>
        <p:txBody>
          <a:bodyPr/>
          <a:lstStyle/>
          <a:p>
            <a:endParaRPr lang="zh-TW" altLang="en-US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05840" y="1513119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D2A953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Calibri" pitchFamily="34" charset="-120"/>
              </a:rPr>
              <a:t>形（大圓的邊界）</a:t>
            </a:r>
            <a:endParaRPr lang="en-US" sz="1200" dirty="0">
              <a:solidFill>
                <a:srgbClr val="D2A953"/>
              </a:solidFill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grpSp>
        <p:nvGrpSpPr>
          <p:cNvPr id="21" name="群組 20">
            <a:extLst>
              <a:ext uri="{FF2B5EF4-FFF2-40B4-BE49-F238E27FC236}">
                <a16:creationId xmlns:a16="http://schemas.microsoft.com/office/drawing/2014/main" id="{B3FF9C61-D186-64EC-1EA0-AED0F3BC5BC5}"/>
              </a:ext>
            </a:extLst>
          </p:cNvPr>
          <p:cNvGrpSpPr/>
          <p:nvPr/>
        </p:nvGrpSpPr>
        <p:grpSpPr>
          <a:xfrm>
            <a:off x="1508760" y="2775861"/>
            <a:ext cx="1371600" cy="1371600"/>
            <a:chOff x="1508760" y="2697480"/>
            <a:chExt cx="1371600" cy="1371600"/>
          </a:xfrm>
        </p:grpSpPr>
        <p:sp>
          <p:nvSpPr>
            <p:cNvPr id="8" name="Shape 6"/>
            <p:cNvSpPr/>
            <p:nvPr/>
          </p:nvSpPr>
          <p:spPr>
            <a:xfrm>
              <a:off x="1508760" y="2697480"/>
              <a:ext cx="1371600" cy="1371600"/>
            </a:xfrm>
            <a:prstGeom prst="ellipse">
              <a:avLst/>
            </a:prstGeom>
            <a:solidFill>
              <a:srgbClr val="CADCFC"/>
            </a:solidFill>
            <a:ln w="1905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zh-TW" altLang="en-US">
                <a:latin typeface="Times New Roman" panose="02020603050405020304" pitchFamily="18" charset="0"/>
                <a:ea typeface="微軟正黑體" panose="020B0604030504040204" pitchFamily="34" charset="-120"/>
              </a:endParaRPr>
            </a:p>
          </p:txBody>
        </p:sp>
        <p:sp>
          <p:nvSpPr>
            <p:cNvPr id="9" name="Text 7"/>
            <p:cNvSpPr/>
            <p:nvPr/>
          </p:nvSpPr>
          <p:spPr>
            <a:xfrm>
              <a:off x="1508760" y="2697480"/>
              <a:ext cx="1371600" cy="1371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1E2761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Calibri" pitchFamily="34" charset="-120"/>
                </a:rPr>
                <a:t>子形</a:t>
              </a:r>
              <a:endParaRPr lang="en-US" sz="1300" dirty="0">
                <a:latin typeface="Times New Roman" panose="02020603050405020304" pitchFamily="18" charset="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22" name="群組 21">
            <a:extLst>
              <a:ext uri="{FF2B5EF4-FFF2-40B4-BE49-F238E27FC236}">
                <a16:creationId xmlns:a16="http://schemas.microsoft.com/office/drawing/2014/main" id="{5A8A1C7C-0C01-3C69-A42B-EF6E8A4D2DE7}"/>
              </a:ext>
            </a:extLst>
          </p:cNvPr>
          <p:cNvGrpSpPr/>
          <p:nvPr/>
        </p:nvGrpSpPr>
        <p:grpSpPr>
          <a:xfrm>
            <a:off x="3383280" y="2793278"/>
            <a:ext cx="1371600" cy="1371600"/>
            <a:chOff x="3520440" y="2423160"/>
            <a:chExt cx="1371600" cy="1371600"/>
          </a:xfrm>
        </p:grpSpPr>
        <p:sp>
          <p:nvSpPr>
            <p:cNvPr id="10" name="Shape 8"/>
            <p:cNvSpPr/>
            <p:nvPr/>
          </p:nvSpPr>
          <p:spPr>
            <a:xfrm>
              <a:off x="3520440" y="2423160"/>
              <a:ext cx="1371600" cy="1371600"/>
            </a:xfrm>
            <a:prstGeom prst="ellipse">
              <a:avLst/>
            </a:prstGeom>
            <a:solidFill>
              <a:srgbClr val="CADCFC"/>
            </a:solidFill>
            <a:ln w="1905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zh-TW" altLang="en-US">
                <a:latin typeface="Times New Roman" panose="02020603050405020304" pitchFamily="18" charset="0"/>
                <a:ea typeface="微軟正黑體" panose="020B0604030504040204" pitchFamily="34" charset="-120"/>
              </a:endParaRPr>
            </a:p>
          </p:txBody>
        </p:sp>
        <p:sp>
          <p:nvSpPr>
            <p:cNvPr id="11" name="Text 9"/>
            <p:cNvSpPr/>
            <p:nvPr/>
          </p:nvSpPr>
          <p:spPr>
            <a:xfrm>
              <a:off x="3520440" y="2423160"/>
              <a:ext cx="1371600" cy="1371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1E2761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Calibri" pitchFamily="34" charset="-120"/>
                </a:rPr>
                <a:t>子形</a:t>
              </a:r>
              <a:endParaRPr lang="en-US" sz="1300" dirty="0">
                <a:latin typeface="Times New Roman" panose="02020603050405020304" pitchFamily="18" charset="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23" name="群組 22">
            <a:extLst>
              <a:ext uri="{FF2B5EF4-FFF2-40B4-BE49-F238E27FC236}">
                <a16:creationId xmlns:a16="http://schemas.microsoft.com/office/drawing/2014/main" id="{CBD76281-5159-30EA-2A29-124B094CCCD9}"/>
              </a:ext>
            </a:extLst>
          </p:cNvPr>
          <p:cNvGrpSpPr/>
          <p:nvPr/>
        </p:nvGrpSpPr>
        <p:grpSpPr>
          <a:xfrm>
            <a:off x="2423160" y="4421781"/>
            <a:ext cx="1371600" cy="1371600"/>
            <a:chOff x="2651760" y="4251960"/>
            <a:chExt cx="1371600" cy="1371600"/>
          </a:xfrm>
        </p:grpSpPr>
        <p:sp>
          <p:nvSpPr>
            <p:cNvPr id="12" name="Shape 10"/>
            <p:cNvSpPr/>
            <p:nvPr/>
          </p:nvSpPr>
          <p:spPr>
            <a:xfrm>
              <a:off x="2651760" y="4251960"/>
              <a:ext cx="1371600" cy="1371600"/>
            </a:xfrm>
            <a:prstGeom prst="ellipse">
              <a:avLst/>
            </a:prstGeom>
            <a:solidFill>
              <a:srgbClr val="CADCFC"/>
            </a:solidFill>
            <a:ln w="1905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zh-TW" altLang="en-US">
                <a:latin typeface="Times New Roman" panose="02020603050405020304" pitchFamily="18" charset="0"/>
                <a:ea typeface="微軟正黑體" panose="020B0604030504040204" pitchFamily="34" charset="-120"/>
              </a:endParaRPr>
            </a:p>
          </p:txBody>
        </p:sp>
        <p:sp>
          <p:nvSpPr>
            <p:cNvPr id="13" name="Text 11"/>
            <p:cNvSpPr/>
            <p:nvPr/>
          </p:nvSpPr>
          <p:spPr>
            <a:xfrm>
              <a:off x="2651760" y="4251960"/>
              <a:ext cx="1371600" cy="1371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1E2761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Calibri" pitchFamily="34" charset="-120"/>
                </a:rPr>
                <a:t>子形</a:t>
              </a:r>
              <a:endParaRPr lang="en-US" sz="1300" dirty="0">
                <a:latin typeface="Times New Roman" panose="02020603050405020304" pitchFamily="18" charset="0"/>
                <a:ea typeface="微軟正黑體" panose="020B0604030504040204" pitchFamily="34" charset="-120"/>
              </a:endParaRPr>
            </a:p>
          </p:txBody>
        </p:sp>
      </p:grpSp>
      <p:sp>
        <p:nvSpPr>
          <p:cNvPr id="14" name="Shape 12"/>
          <p:cNvSpPr/>
          <p:nvPr/>
        </p:nvSpPr>
        <p:spPr>
          <a:xfrm>
            <a:off x="6675120" y="1828800"/>
            <a:ext cx="4937760" cy="3840480"/>
          </a:xfrm>
          <a:prstGeom prst="roundRect">
            <a:avLst>
              <a:gd name="adj" fmla="val 2857"/>
            </a:avLst>
          </a:prstGeom>
          <a:solidFill>
            <a:srgbClr val="232C63"/>
          </a:solidFill>
          <a:ln w="12700">
            <a:solidFill>
              <a:srgbClr val="3A4590"/>
            </a:solidFill>
            <a:prstDash val="solid"/>
          </a:ln>
        </p:spPr>
        <p:txBody>
          <a:bodyPr/>
          <a:lstStyle/>
          <a:p>
            <a:endParaRPr lang="zh-TW" altLang="en-US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040880" y="2103120"/>
            <a:ext cx="4206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err="1">
                <a:solidFill>
                  <a:srgbClr val="E9F0FC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Calibri" pitchFamily="34" charset="-120"/>
              </a:rPr>
              <a:t>在合之前</a:t>
            </a:r>
            <a:r>
              <a:rPr lang="en-US" sz="1500">
                <a:solidFill>
                  <a:srgbClr val="E9F0FC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Calibri" pitchFamily="34" charset="-120"/>
              </a:rPr>
              <a:t>，</a:t>
            </a:r>
            <a:r>
              <a:rPr lang="en-US" sz="1500" b="1">
                <a:solidFill>
                  <a:srgbClr val="FFFFFF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Calibri" pitchFamily="34" charset="-120"/>
              </a:rPr>
              <a:t>只有三個各自獨立的基本形；</a:t>
            </a:r>
            <a:endParaRPr lang="en-US" sz="1500" b="1" dirty="0">
              <a:solidFill>
                <a:srgbClr val="FFFFFF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Calibri" pitchFamily="34" charset="-120"/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en-US" sz="1500" b="1">
                <a:solidFill>
                  <a:srgbClr val="F1DFB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Calibri" pitchFamily="34" charset="-120"/>
              </a:rPr>
              <a:t>合之後，多了一個新的、層次更高的形。</a:t>
            </a:r>
            <a:endParaRPr lang="en-US" sz="1500" dirty="0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040880" y="3566160"/>
            <a:ext cx="4206240" cy="0"/>
          </a:xfrm>
          <a:prstGeom prst="line">
            <a:avLst/>
          </a:prstGeom>
          <a:noFill/>
          <a:ln w="12700">
            <a:solidFill>
              <a:srgbClr val="3A4590"/>
            </a:solidFill>
            <a:prstDash val="solid"/>
          </a:ln>
        </p:spPr>
        <p:txBody>
          <a:bodyPr/>
          <a:lstStyle/>
          <a:p>
            <a:endParaRPr lang="zh-TW" altLang="en-US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040880" y="374904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FFFFFF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Calibri" pitchFamily="34" charset="-120"/>
              </a:rPr>
              <a:t>● 最大的圓（把其他圓包起來的邊界）→ 稱為「形」</a:t>
            </a:r>
            <a:endParaRPr lang="en-US" sz="1350" dirty="0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040880" y="425196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FFFFFF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Calibri" pitchFamily="34" charset="-120"/>
              </a:rPr>
              <a:t>● 被包在裡面的每一個小圓 → 稱為「子形」</a:t>
            </a:r>
            <a:endParaRPr lang="en-US" sz="1350" dirty="0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040880" y="489204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CADCFC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Calibri" pitchFamily="34" charset="-120"/>
              </a:rPr>
              <a:t>「形包含子形」回答的仍是「是什麼」——歸屬關係，而非「有幾個」。</a:t>
            </a:r>
            <a:endParaRPr lang="en-US" sz="1300" dirty="0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1632" y="-502920"/>
            <a:ext cx="1920240" cy="1920240"/>
          </a:xfrm>
          <a:prstGeom prst="ellipse">
            <a:avLst/>
          </a:prstGeom>
          <a:solidFill>
            <a:srgbClr val="E9F0FC"/>
          </a:solidFill>
          <a:ln/>
        </p:spPr>
        <p:txBody>
          <a:bodyPr/>
          <a:lstStyle/>
          <a:p>
            <a:endParaRPr lang="zh-TW" altLang="en-US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1228832" y="-45720"/>
            <a:ext cx="1005840" cy="1005840"/>
          </a:xfrm>
          <a:prstGeom prst="ellipse">
            <a:avLst/>
          </a:prstGeom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TW" altLang="en-US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300">
                <a:solidFill>
                  <a:srgbClr val="C9982E"/>
                </a:solidFill>
                <a:latin typeface="HGMinchoE" panose="02020809000000000000" pitchFamily="49" charset="-128"/>
                <a:ea typeface="HGMinchoE" panose="02020809000000000000" pitchFamily="49" charset="-128"/>
                <a:cs typeface="Calibri" pitchFamily="34" charset="-120"/>
              </a:rPr>
              <a:t>無限疊加的結構</a:t>
            </a:r>
            <a:endParaRPr lang="en-US" sz="2000" dirty="0">
              <a:latin typeface="HGMinchoE" panose="02020809000000000000" pitchFamily="49" charset="-128"/>
              <a:ea typeface="HGMinchoE" panose="02020809000000000000" pitchFamily="49" charset="-128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1E276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Cambria" pitchFamily="34" charset="-120"/>
              </a:rPr>
              <a:t>形，可以無限往下疊；數，在每一層被重新提問</a:t>
            </a:r>
            <a:endParaRPr lang="en-US" sz="3200" dirty="0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914400" y="1920240"/>
            <a:ext cx="4206240" cy="4206240"/>
          </a:xfrm>
          <a:prstGeom prst="ellipse">
            <a:avLst/>
          </a:prstGeom>
          <a:solidFill>
            <a:srgbClr val="E9F0FC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TW" altLang="en-US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645920" y="2651760"/>
            <a:ext cx="2743200" cy="2743200"/>
          </a:xfrm>
          <a:prstGeom prst="ellipse">
            <a:avLst/>
          </a:prstGeom>
          <a:solidFill>
            <a:srgbClr val="CADCFC"/>
          </a:solidFill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TW" altLang="en-US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377440" y="3383280"/>
            <a:ext cx="1280160" cy="1280160"/>
          </a:xfrm>
          <a:prstGeom prst="ellipse">
            <a:avLst/>
          </a:prstGeom>
          <a:solidFill>
            <a:srgbClr val="1E2761"/>
          </a:solidFill>
          <a:ln w="19050">
            <a:solidFill>
              <a:srgbClr val="C9982E"/>
            </a:solidFill>
            <a:prstDash val="solid"/>
          </a:ln>
        </p:spPr>
        <p:txBody>
          <a:bodyPr/>
          <a:lstStyle/>
          <a:p>
            <a:endParaRPr lang="zh-TW" altLang="en-US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18908" y="2034327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76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Calibri" pitchFamily="34" charset="-120"/>
              </a:rPr>
              <a:t>層 1</a:t>
            </a:r>
            <a:endParaRPr lang="en-US" sz="1100" dirty="0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645920" y="267004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76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Calibri" pitchFamily="34" charset="-120"/>
              </a:rPr>
              <a:t>層 2</a:t>
            </a:r>
            <a:endParaRPr lang="en-US" sz="1100" dirty="0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395728" y="38862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Calibri" pitchFamily="34" charset="-120"/>
              </a:rPr>
              <a:t>層 3</a:t>
            </a:r>
            <a:endParaRPr lang="en-US" sz="1100" dirty="0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14400" y="62636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E276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Calibri" pitchFamily="34" charset="-120"/>
              </a:rPr>
              <a:t>形的疊加＝結構延伸</a:t>
            </a:r>
            <a:endParaRPr lang="en-US" sz="1400" dirty="0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309360" y="1957255"/>
            <a:ext cx="5349240" cy="4160520"/>
          </a:xfrm>
          <a:prstGeom prst="roundRect">
            <a:avLst>
              <a:gd name="adj" fmla="val 263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zh-TW" altLang="en-US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675120" y="2231575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Cambria" pitchFamily="34" charset="-120"/>
              </a:rPr>
              <a:t>每停在一層問「有幾個」，數就重新產生一次</a:t>
            </a:r>
            <a:endParaRPr lang="en-US" sz="1600" dirty="0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675120" y="2871655"/>
            <a:ext cx="4663440" cy="0"/>
          </a:xfrm>
          <a:prstGeom prst="line">
            <a:avLst/>
          </a:prstGeom>
          <a:noFill/>
          <a:ln w="12700">
            <a:solidFill>
              <a:srgbClr val="3A4590"/>
            </a:solidFill>
            <a:prstDash val="solid"/>
          </a:ln>
        </p:spPr>
        <p:txBody>
          <a:bodyPr/>
          <a:lstStyle/>
          <a:p>
            <a:endParaRPr lang="zh-TW" altLang="en-US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675120" y="3100255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982E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Calibri" pitchFamily="34" charset="-120"/>
              </a:rPr>
              <a:t>●</a:t>
            </a:r>
            <a:endParaRPr lang="en-US" sz="1300" dirty="0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949439" y="2897773"/>
            <a:ext cx="4502331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err="1">
                <a:solidFill>
                  <a:srgbClr val="F1DFB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Calibri" pitchFamily="34" charset="-120"/>
              </a:rPr>
              <a:t>黑白交替</a:t>
            </a:r>
            <a:r>
              <a:rPr lang="en-US" sz="1300" b="1">
                <a:solidFill>
                  <a:srgbClr val="F1DFB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Calibri" pitchFamily="34" charset="-120"/>
              </a:rPr>
              <a:t>：</a:t>
            </a:r>
            <a:r>
              <a:rPr lang="en-US" sz="1300">
                <a:solidFill>
                  <a:srgbClr val="E9F0FC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Calibri" pitchFamily="34" charset="-120"/>
              </a:rPr>
              <a:t>先辨黑與白（形），再數黑幾次、白幾次（數）</a:t>
            </a:r>
            <a:endParaRPr lang="en-US" sz="1300" dirty="0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675120" y="4014655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982E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Calibri" pitchFamily="34" charset="-120"/>
              </a:rPr>
              <a:t>●</a:t>
            </a:r>
            <a:endParaRPr lang="en-US" sz="1300" dirty="0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949440" y="3916681"/>
            <a:ext cx="4434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>
                <a:solidFill>
                  <a:srgbClr val="F1DFB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Calibri" pitchFamily="34" charset="-120"/>
              </a:rPr>
              <a:t>形與子形：</a:t>
            </a:r>
            <a:r>
              <a:rPr lang="en-US" sz="1300">
                <a:solidFill>
                  <a:srgbClr val="E9F0FC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Calibri" pitchFamily="34" charset="-120"/>
              </a:rPr>
              <a:t>先辨哪些小圓屬於大形（形），再數大形底下有幾個子形（數）</a:t>
            </a:r>
            <a:endParaRPr lang="en-US" sz="1300" dirty="0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675120" y="4974775"/>
            <a:ext cx="4663440" cy="0"/>
          </a:xfrm>
          <a:prstGeom prst="line">
            <a:avLst/>
          </a:prstGeom>
          <a:noFill/>
          <a:ln w="12700">
            <a:solidFill>
              <a:srgbClr val="3A4590"/>
            </a:solidFill>
            <a:prstDash val="solid"/>
          </a:ln>
        </p:spPr>
        <p:txBody>
          <a:bodyPr/>
          <a:lstStyle/>
          <a:p>
            <a:endParaRPr lang="zh-TW" altLang="en-US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675120" y="5000893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i="1">
                <a:solidFill>
                  <a:srgbClr val="FFFFFF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Calibri" pitchFamily="34" charset="-120"/>
              </a:rPr>
              <a:t>共同點：辨識永遠發生在計數之前——先能分開「一個」與「另一個」，才有辦法數「一共有幾個」。</a:t>
            </a:r>
            <a:endParaRPr lang="en-US" sz="1300" dirty="0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kern="0" spc="200" dirty="0">
                <a:solidFill>
                  <a:srgbClr val="E63946"/>
                </a:solidFill>
                <a:latin typeface="HGMinchoE" panose="02020809000000000000" pitchFamily="49" charset="-128"/>
                <a:ea typeface="HGMinchoE" panose="02020809000000000000" pitchFamily="49" charset="-128"/>
                <a:cs typeface="Microsoft JhengHei" pitchFamily="34" charset="-120"/>
              </a:rPr>
              <a:t>案例</a:t>
            </a:r>
            <a:endParaRPr lang="en-US" sz="2000" dirty="0">
              <a:latin typeface="HGMinchoE" panose="02020809000000000000" pitchFamily="49" charset="-128"/>
              <a:ea typeface="HGMinchoE" panose="02020809000000000000" pitchFamily="49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232526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Microsoft JhengHei" pitchFamily="34" charset="-120"/>
              </a:rPr>
              <a:t>3 顆蘋果、2 顆馬鈴薯、2 顆水蜜桃</a:t>
            </a:r>
            <a:endParaRPr lang="en-US" sz="3000" dirty="0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1064240" y="457200"/>
            <a:ext cx="822960" cy="82296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zh-TW" altLang="en-US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1567160" y="960120"/>
            <a:ext cx="320040" cy="320040"/>
          </a:xfrm>
          <a:prstGeom prst="ellipse">
            <a:avLst/>
          </a:prstGeom>
          <a:ln w="19050">
            <a:solidFill>
              <a:srgbClr val="8A8886"/>
            </a:solidFill>
            <a:prstDash val="solid"/>
          </a:ln>
        </p:spPr>
        <p:txBody>
          <a:bodyPr/>
          <a:lstStyle/>
          <a:p>
            <a:endParaRPr lang="zh-TW" altLang="en-US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E63946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Microsoft JhengHei" pitchFamily="34" charset="-120"/>
              </a:rPr>
              <a:t>水果共有幾顆？</a:t>
            </a:r>
            <a:endParaRPr lang="en-US" sz="1600" dirty="0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pic>
        <p:nvPicPr>
          <p:cNvPr id="7" name="Image 0" descr="/home/claude/pptx_work/images/ap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514600"/>
            <a:ext cx="868680" cy="914400"/>
          </a:xfrm>
          <a:prstGeom prst="rect">
            <a:avLst/>
          </a:prstGeom>
        </p:spPr>
      </p:pic>
      <p:pic>
        <p:nvPicPr>
          <p:cNvPr id="8" name="Image 1" descr="/home/claude/pptx_work/images/ap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4520" y="2514600"/>
            <a:ext cx="868680" cy="914400"/>
          </a:xfrm>
          <a:prstGeom prst="rect">
            <a:avLst/>
          </a:prstGeom>
        </p:spPr>
      </p:pic>
      <p:pic>
        <p:nvPicPr>
          <p:cNvPr id="9" name="Image 2" descr="/home/claude/pptx_work/images/ap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2514600"/>
            <a:ext cx="868680" cy="914400"/>
          </a:xfrm>
          <a:prstGeom prst="rect">
            <a:avLst/>
          </a:prstGeom>
        </p:spPr>
      </p:pic>
      <p:pic>
        <p:nvPicPr>
          <p:cNvPr id="10" name="Image 3" descr="/home/claude/pptx_work/images/potat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520" y="2560320"/>
            <a:ext cx="868680" cy="749808"/>
          </a:xfrm>
          <a:prstGeom prst="rect">
            <a:avLst/>
          </a:prstGeom>
        </p:spPr>
      </p:pic>
      <p:pic>
        <p:nvPicPr>
          <p:cNvPr id="11" name="Image 4" descr="/home/claude/pptx_work/images/potat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2560320"/>
            <a:ext cx="868680" cy="749808"/>
          </a:xfrm>
          <a:prstGeom prst="rect">
            <a:avLst/>
          </a:prstGeom>
        </p:spPr>
      </p:pic>
      <p:pic>
        <p:nvPicPr>
          <p:cNvPr id="12" name="Image 5" descr="/home/claude/pptx_work/images/pea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2514600"/>
            <a:ext cx="868680" cy="914400"/>
          </a:xfrm>
          <a:prstGeom prst="rect">
            <a:avLst/>
          </a:prstGeom>
        </p:spPr>
      </p:pic>
      <p:pic>
        <p:nvPicPr>
          <p:cNvPr id="13" name="Image 6" descr="/home/claude/pptx_work/images/pea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480" y="2514600"/>
            <a:ext cx="868680" cy="914400"/>
          </a:xfrm>
          <a:prstGeom prst="rect">
            <a:avLst/>
          </a:prstGeom>
        </p:spPr>
      </p:pic>
      <p:sp>
        <p:nvSpPr>
          <p:cNvPr id="14" name="Text 5"/>
          <p:cNvSpPr/>
          <p:nvPr/>
        </p:nvSpPr>
        <p:spPr>
          <a:xfrm>
            <a:off x="914400" y="36118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8A8886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Microsoft JhengHei" pitchFamily="34" charset="-120"/>
              </a:rPr>
              <a:t>蘋果 ×3</a:t>
            </a:r>
            <a:endParaRPr lang="en-US" sz="1200" dirty="0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15" name="Text 6"/>
          <p:cNvSpPr/>
          <p:nvPr/>
        </p:nvSpPr>
        <p:spPr>
          <a:xfrm>
            <a:off x="4160520" y="36118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8A8886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Microsoft JhengHei" pitchFamily="34" charset="-120"/>
              </a:rPr>
              <a:t>馬鈴薯 ×2</a:t>
            </a:r>
            <a:endParaRPr lang="en-US" sz="1200" dirty="0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16" name="Text 7"/>
          <p:cNvSpPr/>
          <p:nvPr/>
        </p:nvSpPr>
        <p:spPr>
          <a:xfrm>
            <a:off x="6309360" y="36118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8886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Microsoft JhengHei" pitchFamily="34" charset="-120"/>
              </a:rPr>
              <a:t>水蜜桃 ×2</a:t>
            </a:r>
            <a:endParaRPr lang="en-US" sz="1200" dirty="0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17" name="Shape 8"/>
          <p:cNvSpPr/>
          <p:nvPr/>
        </p:nvSpPr>
        <p:spPr>
          <a:xfrm>
            <a:off x="777240" y="2377440"/>
            <a:ext cx="3108960" cy="1143000"/>
          </a:xfrm>
          <a:prstGeom prst="roundRect">
            <a:avLst>
              <a:gd name="adj" fmla="val 8000"/>
            </a:avLst>
          </a:prstGeom>
          <a:ln w="25400">
            <a:solidFill>
              <a:srgbClr val="E63946"/>
            </a:solidFill>
            <a:prstDash val="dash"/>
          </a:ln>
        </p:spPr>
        <p:txBody>
          <a:bodyPr/>
          <a:lstStyle/>
          <a:p>
            <a:endParaRPr lang="zh-TW" altLang="en-US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18" name="Shape 9"/>
          <p:cNvSpPr/>
          <p:nvPr/>
        </p:nvSpPr>
        <p:spPr>
          <a:xfrm>
            <a:off x="6172200" y="2377440"/>
            <a:ext cx="2133602" cy="1143000"/>
          </a:xfrm>
          <a:prstGeom prst="roundRect">
            <a:avLst>
              <a:gd name="adj" fmla="val 8000"/>
            </a:avLst>
          </a:prstGeom>
          <a:ln w="25400">
            <a:solidFill>
              <a:srgbClr val="E63946"/>
            </a:solidFill>
            <a:prstDash val="dash"/>
          </a:ln>
        </p:spPr>
        <p:txBody>
          <a:bodyPr/>
          <a:lstStyle/>
          <a:p>
            <a:endParaRPr lang="zh-TW" altLang="en-US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19" name="Text 10"/>
          <p:cNvSpPr/>
          <p:nvPr/>
        </p:nvSpPr>
        <p:spPr>
          <a:xfrm>
            <a:off x="777240" y="212140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Microsoft JhengHei" pitchFamily="34" charset="-120"/>
              </a:rPr>
              <a:t>水果</a:t>
            </a:r>
            <a:endParaRPr lang="en-US" sz="1200" dirty="0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20" name="Text 11"/>
          <p:cNvSpPr/>
          <p:nvPr/>
        </p:nvSpPr>
        <p:spPr>
          <a:xfrm>
            <a:off x="6172200" y="212140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Microsoft JhengHei" pitchFamily="34" charset="-120"/>
              </a:rPr>
              <a:t>水果</a:t>
            </a:r>
            <a:endParaRPr lang="en-US" sz="1200" dirty="0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21" name="Shape 12"/>
          <p:cNvSpPr/>
          <p:nvPr/>
        </p:nvSpPr>
        <p:spPr>
          <a:xfrm>
            <a:off x="8778240" y="2342611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002060"/>
          </a:solidFill>
          <a:ln/>
        </p:spPr>
        <p:txBody>
          <a:bodyPr/>
          <a:lstStyle/>
          <a:p>
            <a:endParaRPr lang="zh-TW" altLang="en-US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22" name="Text 13"/>
          <p:cNvSpPr/>
          <p:nvPr/>
        </p:nvSpPr>
        <p:spPr>
          <a:xfrm>
            <a:off x="8778240" y="2479771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7F6F3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Cambria" pitchFamily="34" charset="-120"/>
              </a:rPr>
              <a:t>3 + 2 = 5</a:t>
            </a:r>
            <a:endParaRPr lang="en-US" sz="2600" dirty="0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23" name="Text 14"/>
          <p:cNvSpPr/>
          <p:nvPr/>
        </p:nvSpPr>
        <p:spPr>
          <a:xfrm>
            <a:off x="8778240" y="3119851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C9C6C2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Microsoft JhengHei" pitchFamily="34" charset="-120"/>
              </a:rPr>
              <a:t>水果共 5 顆</a:t>
            </a:r>
            <a:endParaRPr lang="en-US" sz="1200" dirty="0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24" name="Text 15"/>
          <p:cNvSpPr/>
          <p:nvPr/>
        </p:nvSpPr>
        <p:spPr>
          <a:xfrm>
            <a:off x="640080" y="38862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>
                <a:solidFill>
                  <a:srgbClr val="232526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Microsoft JhengHei" pitchFamily="34" charset="-120"/>
              </a:rPr>
              <a:t>這個</a:t>
            </a:r>
            <a:r>
              <a:rPr lang="zh-TW" altLang="en-US" sz="1400">
                <a:solidFill>
                  <a:srgbClr val="232526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Microsoft JhengHei" pitchFamily="34" charset="-120"/>
              </a:rPr>
              <a:t>數學</a:t>
            </a:r>
            <a:r>
              <a:rPr lang="en-US" sz="1400">
                <a:solidFill>
                  <a:srgbClr val="232526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Microsoft JhengHei" pitchFamily="34" charset="-120"/>
              </a:rPr>
              <a:t>算式能成立，其實已預先發生一個沒被寫出來的步驟：大腦必須先判斷「蘋果」和「水蜜桃」都屬於「水果」這個更高層類別，兩者才能被視為同一單位、放進同一算式相加。</a:t>
            </a:r>
            <a:endParaRPr lang="en-US" sz="1400" dirty="0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25" name="Shape 16"/>
          <p:cNvSpPr/>
          <p:nvPr/>
        </p:nvSpPr>
        <p:spPr>
          <a:xfrm>
            <a:off x="640080" y="489204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002060"/>
          </a:solidFill>
          <a:ln/>
        </p:spPr>
        <p:txBody>
          <a:bodyPr/>
          <a:lstStyle/>
          <a:p>
            <a:endParaRPr lang="zh-TW" altLang="en-US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26" name="Text 17"/>
          <p:cNvSpPr/>
          <p:nvPr/>
        </p:nvSpPr>
        <p:spPr>
          <a:xfrm>
            <a:off x="914400" y="5047488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E63946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Microsoft JhengHei" pitchFamily="34" charset="-120"/>
              </a:rPr>
              <a:t>蘋果 ∈ 水果　　水蜜桃 ∈ 水果</a:t>
            </a:r>
            <a:endParaRPr lang="en-US" sz="1500" dirty="0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27" name="Text 18"/>
          <p:cNvSpPr/>
          <p:nvPr/>
        </p:nvSpPr>
        <p:spPr>
          <a:xfrm>
            <a:off x="914400" y="5440680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>
                <a:solidFill>
                  <a:srgbClr val="C9C6C2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Microsoft JhengHei" pitchFamily="34" charset="-120"/>
              </a:rPr>
              <a:t>3 跟 2 能相加，是因為背後已悄悄跑完一次「形」的判斷（蘋果、水蜜桃 → 合併為水果）——數學符號從未寫出這一步。</a:t>
            </a:r>
            <a:endParaRPr lang="en-US" sz="1250" dirty="0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7A4B8824-414D-8E72-8144-9E6394A9F4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6893" y="6553161"/>
            <a:ext cx="1305107" cy="27626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zh-TW" sz="2000">
                <a:solidFill>
                  <a:srgbClr val="FF0000"/>
                </a:solidFill>
                <a:latin typeface="HGMinchoE" panose="02020809000000000000" pitchFamily="49" charset="-128"/>
                <a:ea typeface="HGMinchoE" panose="02020809000000000000" pitchFamily="49" charset="-128"/>
                <a:cs typeface="Cambria" pitchFamily="34" charset="-120"/>
              </a:rPr>
              <a:t>結論</a:t>
            </a:r>
            <a:endParaRPr lang="en-US" sz="2000" dirty="0">
              <a:solidFill>
                <a:srgbClr val="FF0000"/>
              </a:solidFill>
              <a:latin typeface="HGMinchoE" panose="02020809000000000000" pitchFamily="49" charset="-128"/>
              <a:ea typeface="HGMinchoE" panose="02020809000000000000" pitchFamily="49" charset="-128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zh-TW" sz="3200">
                <a:solidFill>
                  <a:srgbClr val="1E2761"/>
                </a:solidFill>
                <a:latin typeface="HGMinchoE" panose="02020809000000000000" pitchFamily="49" charset="-128"/>
                <a:ea typeface="HGMinchoE" panose="02020809000000000000" pitchFamily="49" charset="-128"/>
                <a:cs typeface="Calibri" pitchFamily="34" charset="-120"/>
              </a:rPr>
              <a:t>先有形，才有數</a:t>
            </a:r>
            <a:r>
              <a:rPr lang="zh-TW" altLang="en-US" sz="3200" b="1">
                <a:solidFill>
                  <a:srgbClr val="1E276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Cambria" pitchFamily="34" charset="-120"/>
              </a:rPr>
              <a:t> </a:t>
            </a:r>
            <a:endParaRPr lang="en-US" sz="3200" dirty="0">
              <a:solidFill>
                <a:srgbClr val="1E2761"/>
              </a:solidFill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31520" y="2409492"/>
            <a:ext cx="1051560" cy="105156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zh-TW" altLang="en-US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31520" y="2409492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Cambria" pitchFamily="34" charset="-120"/>
              </a:rPr>
              <a:t>形</a:t>
            </a:r>
            <a:endParaRPr lang="en-US" sz="2000" dirty="0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057400" y="2436924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E276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Cambria" pitchFamily="34" charset="-120"/>
              </a:rPr>
              <a:t>基本個體</a:t>
            </a:r>
            <a:endParaRPr lang="en-US" sz="2000" dirty="0">
              <a:solidFill>
                <a:srgbClr val="1E2761"/>
              </a:solidFill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2057400" y="2912412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E276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Calibri" pitchFamily="34" charset="-120"/>
              </a:rPr>
              <a:t>異同的辨識，是最原初、最底層的認知動作</a:t>
            </a:r>
            <a:endParaRPr lang="en-US" sz="1400" dirty="0">
              <a:solidFill>
                <a:srgbClr val="1E2761"/>
              </a:solidFill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31520" y="3918252"/>
            <a:ext cx="1051560" cy="105156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zh-TW" altLang="en-US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31520" y="3918252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Cambria" pitchFamily="34" charset="-120"/>
              </a:rPr>
              <a:t>數</a:t>
            </a:r>
            <a:endParaRPr lang="en-US" sz="2000" dirty="0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057400" y="3945684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E276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Cambria" pitchFamily="34" charset="-120"/>
              </a:rPr>
              <a:t>形</a:t>
            </a:r>
            <a:r>
              <a:rPr lang="zh-TW" altLang="en-US" sz="2000" b="1">
                <a:solidFill>
                  <a:srgbClr val="1E276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Cambria" pitchFamily="34" charset="-120"/>
              </a:rPr>
              <a:t>的</a:t>
            </a:r>
            <a:r>
              <a:rPr lang="en-US" sz="2000" b="1">
                <a:solidFill>
                  <a:srgbClr val="1E276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Cambria" pitchFamily="34" charset="-120"/>
              </a:rPr>
              <a:t>重複</a:t>
            </a:r>
            <a:endParaRPr lang="en-US" sz="2000" dirty="0">
              <a:solidFill>
                <a:srgbClr val="1E2761"/>
              </a:solidFill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057400" y="4421172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E276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Calibri" pitchFamily="34" charset="-120"/>
              </a:rPr>
              <a:t>在已被辨識的形之上，計量它出現了幾次</a:t>
            </a:r>
            <a:endParaRPr lang="en-US" sz="1400" dirty="0">
              <a:solidFill>
                <a:srgbClr val="1E2761"/>
              </a:solidFill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graphicFrame>
        <p:nvGraphicFramePr>
          <p:cNvPr id="16" name="資料庫圖表 15">
            <a:extLst>
              <a:ext uri="{FF2B5EF4-FFF2-40B4-BE49-F238E27FC236}">
                <a16:creationId xmlns:a16="http://schemas.microsoft.com/office/drawing/2014/main" id="{5F1A5B99-18C6-7488-193E-69F380A293A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42531386"/>
              </p:ext>
            </p:extLst>
          </p:nvPr>
        </p:nvGraphicFramePr>
        <p:xfrm>
          <a:off x="5834742" y="1210491"/>
          <a:ext cx="6200503" cy="49278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8">
            <a:extLst>
              <a:ext uri="{FF2B5EF4-FFF2-40B4-BE49-F238E27FC236}">
                <a16:creationId xmlns:a16="http://schemas.microsoft.com/office/drawing/2014/main" id="{30BFBDE8-E746-5339-0C5E-791B7C16E1AF}"/>
              </a:ext>
            </a:extLst>
          </p:cNvPr>
          <p:cNvSpPr/>
          <p:nvPr/>
        </p:nvSpPr>
        <p:spPr>
          <a:xfrm>
            <a:off x="8046720" y="6201805"/>
            <a:ext cx="4145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mindaiworks@gmail.com</a:t>
            </a:r>
            <a:endParaRPr lang="en-US" dirty="0">
              <a:ea typeface="微軟正黑體" panose="020B0604030504040204" pitchFamily="34" charset="-120"/>
            </a:endParaRPr>
          </a:p>
        </p:txBody>
      </p:sp>
      <p:sp>
        <p:nvSpPr>
          <p:cNvPr id="7" name="Text 11">
            <a:extLst>
              <a:ext uri="{FF2B5EF4-FFF2-40B4-BE49-F238E27FC236}">
                <a16:creationId xmlns:a16="http://schemas.microsoft.com/office/drawing/2014/main" id="{3698B064-838F-4D10-D930-6332159E2F6B}"/>
              </a:ext>
            </a:extLst>
          </p:cNvPr>
          <p:cNvSpPr/>
          <p:nvPr/>
        </p:nvSpPr>
        <p:spPr>
          <a:xfrm>
            <a:off x="4101053" y="6204858"/>
            <a:ext cx="4145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gamma@livemail.tw</a:t>
            </a:r>
            <a:endParaRPr lang="en-US" dirty="0">
              <a:ea typeface="微軟正黑體" panose="020B0604030504040204" pitchFamily="34" charset="-120"/>
            </a:endParaRP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56F6AB60-592C-A753-A473-6F124AA3E3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53782"/>
            <a:ext cx="5029200" cy="5029200"/>
          </a:xfrm>
          <a:prstGeom prst="rect">
            <a:avLst/>
          </a:prstGeom>
        </p:spPr>
      </p:pic>
      <p:sp>
        <p:nvSpPr>
          <p:cNvPr id="16" name="文字方塊 15">
            <a:extLst>
              <a:ext uri="{FF2B5EF4-FFF2-40B4-BE49-F238E27FC236}">
                <a16:creationId xmlns:a16="http://schemas.microsoft.com/office/drawing/2014/main" id="{1606737F-0937-E141-E5A5-6C548E931440}"/>
              </a:ext>
            </a:extLst>
          </p:cNvPr>
          <p:cNvSpPr txBox="1"/>
          <p:nvPr/>
        </p:nvSpPr>
        <p:spPr>
          <a:xfrm>
            <a:off x="552450" y="336203"/>
            <a:ext cx="10972800" cy="715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zh-TW" sz="4050">
                <a:latin typeface="HGPMinchoE" panose="02020800000000000000" pitchFamily="18" charset="-128"/>
                <a:ea typeface="HGPMinchoE" panose="02020800000000000000" pitchFamily="18" charset="-128"/>
              </a:rPr>
              <a:t>LonGreat 願景：創造理解世界本質的智慧生命</a:t>
            </a:r>
            <a:endParaRPr lang="zh-TW" altLang="en-US" sz="4050" dirty="0">
              <a:latin typeface="HGPMinchoE" panose="02020800000000000000" pitchFamily="18" charset="-128"/>
              <a:ea typeface="HGPMinchoE" panose="02020800000000000000" pitchFamily="18" charset="-128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C610B2C4-EAED-CBF0-3B85-8A550CC3A497}"/>
              </a:ext>
            </a:extLst>
          </p:cNvPr>
          <p:cNvSpPr txBox="1"/>
          <p:nvPr/>
        </p:nvSpPr>
        <p:spPr>
          <a:xfrm>
            <a:off x="5018582" y="1561102"/>
            <a:ext cx="6686550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2700">
                <a:latin typeface="HGPMinchoE" panose="02020800000000000000" pitchFamily="18" charset="-128"/>
                <a:ea typeface="HGPMinchoE" panose="02020800000000000000" pitchFamily="18" charset="-128"/>
              </a:rPr>
              <a:t>「讓人工智慧不只是工具，而是真正具備理解、推理、學習與創造能力的智慧生命體系。」</a:t>
            </a:r>
            <a:endParaRPr lang="zh-TW" altLang="en-US" sz="2700" dirty="0">
              <a:latin typeface="HGPMinchoE" panose="02020800000000000000" pitchFamily="18" charset="-128"/>
              <a:ea typeface="HGPMinchoE" panose="02020800000000000000" pitchFamily="18" charset="-128"/>
            </a:endParaRPr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B7CB3E75-EAE0-EA1B-2E18-ED97E9A4862D}"/>
              </a:ext>
            </a:extLst>
          </p:cNvPr>
          <p:cNvSpPr/>
          <p:nvPr/>
        </p:nvSpPr>
        <p:spPr>
          <a:xfrm>
            <a:off x="1035908" y="6206384"/>
            <a:ext cx="268605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www.longreat.net</a:t>
            </a:r>
            <a:endParaRPr lang="en-US" sz="2100" dirty="0">
              <a:ea typeface="微軟正黑體" panose="020B0604030504040204" pitchFamily="34" charset="-12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9DFC8BAA-3E70-D9A1-0158-7D677A4B1BCE}"/>
              </a:ext>
            </a:extLst>
          </p:cNvPr>
          <p:cNvSpPr txBox="1"/>
          <p:nvPr/>
        </p:nvSpPr>
        <p:spPr>
          <a:xfrm>
            <a:off x="5029200" y="2979680"/>
            <a:ext cx="6777424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2700">
                <a:latin typeface="HGPMinchoE" panose="02020800000000000000" pitchFamily="18" charset="-128"/>
                <a:ea typeface="HGPMinchoE" panose="02020800000000000000" pitchFamily="18" charset="-128"/>
              </a:rPr>
              <a:t>從知識統一，到思維統一，最終邁向智慧統一。這就是 LonGreat 所追求的 AGI 永恆之道。</a:t>
            </a:r>
            <a:endParaRPr lang="zh-TW" altLang="en-US" sz="2700" dirty="0">
              <a:latin typeface="HGPMinchoE" panose="02020800000000000000" pitchFamily="18" charset="-128"/>
              <a:ea typeface="HGPMinchoE" panose="02020800000000000000" pitchFamily="18" charset="-128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092B8F0-1356-2FFC-ED22-4443CBD4A857}"/>
              </a:ext>
            </a:extLst>
          </p:cNvPr>
          <p:cNvSpPr/>
          <p:nvPr/>
        </p:nvSpPr>
        <p:spPr>
          <a:xfrm>
            <a:off x="5698002" y="5969315"/>
            <a:ext cx="5701930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張長豐                         張楟潁</a:t>
            </a:r>
          </a:p>
        </p:txBody>
      </p:sp>
    </p:spTree>
    <p:extLst>
      <p:ext uri="{BB962C8B-B14F-4D97-AF65-F5344CB8AC3E}">
        <p14:creationId xmlns:p14="http://schemas.microsoft.com/office/powerpoint/2010/main" val="28748654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347</TotalTime>
  <Words>747</Words>
  <Application>Microsoft Office PowerPoint</Application>
  <PresentationFormat>寬螢幕</PresentationFormat>
  <Paragraphs>135</Paragraphs>
  <Slides>15</Slides>
  <Notes>13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24" baseType="lpstr">
      <vt:lpstr>HGMinchoE</vt:lpstr>
      <vt:lpstr>HGPMinchoE</vt:lpstr>
      <vt:lpstr>微軟正黑體</vt:lpstr>
      <vt:lpstr>微軟正黑體</vt:lpstr>
      <vt:lpstr>標楷體</vt:lpstr>
      <vt:lpstr>Arial</vt:lpstr>
      <vt:lpstr>Poiret One</vt:lpstr>
      <vt:lpstr>Times New Roman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office</cp:lastModifiedBy>
  <cp:revision>45</cp:revision>
  <dcterms:created xsi:type="dcterms:W3CDTF">2026-09-03T07:13:26Z</dcterms:created>
  <dcterms:modified xsi:type="dcterms:W3CDTF">2026-10-10T03:54:11Z</dcterms:modified>
</cp:coreProperties>
</file>